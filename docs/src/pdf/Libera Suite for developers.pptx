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Libera Suite is a desktop office suite, and this deck is about how it is made. The short version: the editors and the document engine are components from Euro-Office, the AGPL fork of ONLYOFFICE, with a short patch queue of ours that leaves the editing engine alone. What we wrote is the desktop host around them, in Python, and it is small: under 8,000 lines of Python and JavaScript, tests not included. Small enough that one team can own it, read it end to end, and keep it going for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work of an office suite is the document engine: the part that takes a .docx written by somebody else's software and lays it out the way they meant. That engine exists, as free software, and it already runs offline: Euro-Office, the AGPL fork of ONLYOFFICE. What was missing was a desktop host for it that one team can own. That is what we wrote. And OpenDocument matters to us as much as Microsoft's formats: .odt, .ods and .odp open and save today, and we are actively working on making them round-trip more faithfully.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design rests on one fact. The editors' offline build expects a JavaScript object, window.AscDesktopEditor, to be present in the page, and calls it for everything it cannot do in a browser: read a file, convert it, save it, pick a font, open a dialog. Upstream's desktop application implements that object in C++, inside CEF and Qt. We implement it in JavaScript, in a bridge we place in every page before the editors' own code runs, backed by a small Python server over loopback, and we show the editors in the system's own webview through pywebview. The offline code that calls the object is already in upstream's source, selected at build time; our patches do not touch it. Underneath, the conversions run in upstream's own x2t binary, and PDF goes through doctrenderer, which embeds V8 and runs the editor's own layout engine, so what you print is laid out by the code that drew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design choice everything else follows from. The editors never write a document. When you open one, x2t, upstream's converter, turns it into the editor's working format, Editor.bin. As you edit, the editor streams its changes to a log. Saving merges the working copy and the log back through x2t into a real document, in the format you opened. Three things fall out of that. Closing a window can save without asking the editor anything, because the host already has everything. A crash leaves the working copy and the log on disk, and that is what crash recovery offers back. And printing goes through doctrenderer, which runs the editor's own layout engine in V8, so the PDF matches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keep upstream. Every repository we build from is pinned to an exact commit, never a branch. Our changes are a git format-patch queue on top: 37 patches across core, sdkjs and web-apps. Twenty-one make it build on macOS, eight on Windows, seven are configuration, branding and build fixes, and one fixes an upstream UI bug. None touches the editing engine. That discipline is what keeps a pin bump a rebase of build configuration, and if the engine ever needs to behave differently, the change goes in the same way: one reviewable patch, offered upstream first. Every release writes the exact revisions and our own commit into its manifest, so the AGPL corresponding source is always a commit plus a patch series that applies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public. To use it, one command: uv tool install libera, or Homebrew on a Mac; Windows has an installer and Linux a Flatpak. To hack on it: clone the repository, uv sync, make test. There are about 330 tests in three tiers: fast unit tests, the host driven over HTTP, and end-to-end tests that drive the real editor in headless Chromium. The tiers that need the editors skip cleanly when they are not installed. The host is Apache-2.0 and the editors AGPL v3. How can you help? Most of all, a document that renders wrong, attached to an issue, ODF documents especially, since we are actively improving that path; Flathub and a one-click flatpakref; Windows code signing and a native ARM64 build; and keyboard shortcuts in the GTK and Windows menus. Issues go to GitHub, and the developer docs are on docs.liberasuite.eu.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1E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50738"/>
            <a:ext cx="10566400" cy="553191"/>
          </a:xfrm>
          <a:prstGeom prst="rect">
            <a:avLst/>
          </a:prstGeom>
          <a:noFill/>
          <a:ln/>
        </p:spPr>
        <p:txBody>
          <a:bodyPr wrap="square" lIns="0" tIns="0" rIns="0" bIns="0" rtlCol="0" anchor="t"/>
          <a:lstStyle>
            <a:lvl1pPr algn="l" indent="0" marL="0">
              <a:lnSpc>
                <a:spcPct val="115000"/>
              </a:lnSpc>
              <a:buNone/>
              <a:defRPr lang="en-US" sz="3600" dirty="0">
                <a:solidFill>
                  <a:srgbClr val="1E1A17"/>
                </a:solidFill>
                <a:latin typeface="Lato" pitchFamily="34" charset="0"/>
                <a:ea typeface="Lato" pitchFamily="34" charset="-122"/>
                <a:cs typeface="Lat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08729"/>
            <a:ext cx="10566400" cy="3936471"/>
          </a:xfrm>
          <a:prstGeom prst="rect">
            <a:avLst/>
          </a:prstGeom>
          <a:noFill/>
          <a:ln/>
        </p:spPr>
        <p:txBody>
          <a:bodyPr wrap="square" lIns="0" tIns="0" rIns="0" bIns="0" rtlCol="0" anchor="t"/>
          <a:lstStyle>
            <a:lvl1pPr algn="l" indent="0" marL="0">
              <a:lnSpc>
                <a:spcPct val="140000"/>
              </a:lnSpc>
              <a:buNone/>
              <a:defRPr lang="en-US" sz="1600" dirty="0">
                <a:solidFill>
                  <a:srgbClr val="1E1A17"/>
                </a:solidFill>
                <a:latin typeface="Lato" pitchFamily="34" charset="0"/>
                <a:ea typeface="Lato" pitchFamily="34" charset="-122"/>
                <a:cs typeface="Lat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1E9"/>
        </a:solidFill>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github.com/abilian/libera-suite/issues" TargetMode="External"/><Relationship Id="rId2" Type="http://schemas.openxmlformats.org/officeDocument/2006/relationships/hyperlink" Target="https://docs.liberasuite.eu/en/develop/" TargetMode="External"/><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1E9"/>
        </a:solidFill>
      </p:bgPr>
    </p:bg>
    <p:spTree>
      <p:nvGrpSpPr>
        <p:cNvPr id="1" name=""/>
        <p:cNvGrpSpPr/>
        <p:nvPr/>
      </p:nvGrpSpPr>
      <p:grpSpPr>
        <a:xfrm>
          <a:off x="0" y="0"/>
          <a:ext cx="0" cy="0"/>
          <a:chOff x="0" y="0"/>
          <a:chExt cx="0" cy="0"/>
        </a:xfrm>
      </p:grpSpPr>
      <p:sp>
        <p:nvSpPr>
          <p:cNvPr id="2" name="Text 0"/>
          <p:cNvSpPr/>
          <p:nvPr/>
        </p:nvSpPr>
        <p:spPr>
          <a:xfrm>
            <a:off x="812800" y="1515533"/>
            <a:ext cx="10883392" cy="260138"/>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462B"/>
                </a:solidFill>
                <a:latin typeface="Lato" pitchFamily="34" charset="0"/>
                <a:ea typeface="Lato" pitchFamily="34" charset="-122"/>
                <a:cs typeface="Lato" pitchFamily="34" charset="-120"/>
              </a:rPr>
              <a:t>FOR DEVELOPERS AND FREE SOFTWARE PEOPLE</a:t>
            </a:r>
            <a:endParaRPr lang="en-US" sz="1200" dirty="0"/>
          </a:p>
        </p:txBody>
      </p:sp>
      <p:pic>
        <p:nvPicPr>
          <p:cNvPr id="3" name="Image 0" descr="Libera Suite">    </p:cNvPr>
          <p:cNvPicPr>
            <a:picLocks noChangeAspect="1"/>
          </p:cNvPicPr>
          <p:nvPr/>
        </p:nvPicPr>
        <p:blipFill>
          <a:blip r:embed="rId1"/>
          <a:srcRect l="0" r="0" t="0" b="0"/>
          <a:stretch/>
        </p:blipFill>
        <p:spPr>
          <a:xfrm>
            <a:off x="812800" y="2055072"/>
            <a:ext cx="4826000" cy="1295400"/>
          </a:xfrm>
          <a:prstGeom prst="rect">
            <a:avLst/>
          </a:prstGeom>
        </p:spPr>
      </p:pic>
      <p:sp>
        <p:nvSpPr>
          <p:cNvPr id="4" name="Text 1"/>
          <p:cNvSpPr/>
          <p:nvPr/>
        </p:nvSpPr>
        <p:spPr>
          <a:xfrm>
            <a:off x="812800" y="3655271"/>
            <a:ext cx="10883392" cy="57859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E1A17"/>
                </a:solidFill>
                <a:latin typeface="Lato" pitchFamily="34" charset="0"/>
                <a:ea typeface="Lato" pitchFamily="34" charset="-122"/>
                <a:cs typeface="Lato" pitchFamily="34" charset="-120"/>
              </a:rPr>
              <a:t>A desktop office suite small enough to own.</a:t>
            </a:r>
            <a:endParaRPr lang="en-US" sz="3600" dirty="0"/>
          </a:p>
        </p:txBody>
      </p:sp>
      <p:sp>
        <p:nvSpPr>
          <p:cNvPr id="5" name="Text 2"/>
          <p:cNvSpPr/>
          <p:nvPr/>
        </p:nvSpPr>
        <p:spPr>
          <a:xfrm>
            <a:off x="812800" y="4513263"/>
            <a:ext cx="8502650" cy="65129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E554E"/>
                </a:solidFill>
                <a:latin typeface="Lato" pitchFamily="34" charset="0"/>
                <a:ea typeface="Lato" pitchFamily="34" charset="-122"/>
                <a:cs typeface="Lato" pitchFamily="34" charset="-120"/>
              </a:rPr>
              <a:t>Built on components from Euro-Office, with a short patch queue and a Python host of under 8,000 lines. For Windows, macOS and Linux.</a:t>
            </a:r>
            <a:endParaRPr lang="en-US" sz="1600" dirty="0"/>
          </a:p>
        </p:txBody>
      </p:sp>
      <p:sp>
        <p:nvSpPr>
          <p:cNvPr id="6" name="Text 3"/>
          <p:cNvSpPr/>
          <p:nvPr/>
        </p:nvSpPr>
        <p:spPr>
          <a:xfrm>
            <a:off x="812800" y="6216862"/>
            <a:ext cx="10883392" cy="2601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54E"/>
                </a:solidFill>
                <a:latin typeface="Lato" pitchFamily="34" charset="0"/>
                <a:ea typeface="Lato" pitchFamily="34" charset="-122"/>
                <a:cs typeface="Lato" pitchFamily="34" charset="-120"/>
              </a:rPr>
              <a:t>Abilian · github.com/abilian/libera-suite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1A17"/>
        </a:solidFill>
      </p:bgPr>
    </p:bg>
    <p:spTree>
      <p:nvGrpSpPr>
        <p:cNvPr id="1" name=""/>
        <p:cNvGrpSpPr/>
        <p:nvPr/>
      </p:nvGrpSpPr>
      <p:grpSpPr>
        <a:xfrm>
          <a:off x="0" y="0"/>
          <a:ext cx="0" cy="0"/>
          <a:chOff x="0" y="0"/>
          <a:chExt cx="0" cy="0"/>
        </a:xfrm>
      </p:grpSpPr>
      <p:sp>
        <p:nvSpPr>
          <p:cNvPr id="2" name="Text 0"/>
          <p:cNvSpPr/>
          <p:nvPr/>
        </p:nvSpPr>
        <p:spPr>
          <a:xfrm>
            <a:off x="812800" y="812800"/>
            <a:ext cx="10883392" cy="260138"/>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8A6E"/>
                </a:solidFill>
                <a:latin typeface="Lato" pitchFamily="34" charset="0"/>
                <a:ea typeface="Lato" pitchFamily="34" charset="-122"/>
                <a:cs typeface="Lato" pitchFamily="34" charset="-120"/>
              </a:rPr>
              <a:t>WHY</a:t>
            </a:r>
            <a:endParaRPr lang="en-US" sz="1200" dirty="0"/>
          </a:p>
        </p:txBody>
      </p:sp>
      <p:sp>
        <p:nvSpPr>
          <p:cNvPr id="3" name="Text 1"/>
          <p:cNvSpPr/>
          <p:nvPr>
            <p:ph type="title"/>
          </p:nvPr>
        </p:nvSpPr>
        <p:spPr>
          <a:xfrm>
            <a:off x="812800" y="1301750"/>
            <a:ext cx="10883392" cy="57859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1E9"/>
                </a:solidFill>
                <a:latin typeface="Lato" pitchFamily="34" charset="0"/>
                <a:ea typeface="Lato" pitchFamily="34" charset="-122"/>
                <a:cs typeface="Lato" pitchFamily="34" charset="-120"/>
              </a:rPr>
              <a:t>The hard part is already free software</a:t>
            </a:r>
            <a:endParaRPr lang="en-US" sz="3600" dirty="0"/>
          </a:p>
        </p:txBody>
      </p:sp>
      <p:sp>
        <p:nvSpPr>
          <p:cNvPr id="4" name="Shape 2"/>
          <p:cNvSpPr/>
          <p:nvPr/>
        </p:nvSpPr>
        <p:spPr>
          <a:xfrm>
            <a:off x="812800" y="2108200"/>
            <a:ext cx="5181600" cy="2203450"/>
          </a:xfrm>
          <a:prstGeom prst="roundRect">
            <a:avLst>
              <a:gd name="adj" fmla="val 6916"/>
            </a:avLst>
          </a:prstGeom>
          <a:solidFill>
            <a:srgbClr val="2E2925"/>
          </a:solidFill>
          <a:ln/>
        </p:spPr>
      </p:sp>
      <p:sp>
        <p:nvSpPr>
          <p:cNvPr id="5" name="Text 3"/>
          <p:cNvSpPr/>
          <p:nvPr/>
        </p:nvSpPr>
        <p:spPr>
          <a:xfrm>
            <a:off x="1066800" y="2362200"/>
            <a:ext cx="4813808" cy="260138"/>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8A6E"/>
                </a:solidFill>
                <a:latin typeface="Lato" pitchFamily="34" charset="0"/>
                <a:ea typeface="Lato" pitchFamily="34" charset="-122"/>
                <a:cs typeface="Lato" pitchFamily="34" charset="-120"/>
              </a:rPr>
              <a:t>UPSTREAM</a:t>
            </a:r>
            <a:endParaRPr lang="en-US" sz="1200" dirty="0"/>
          </a:p>
        </p:txBody>
      </p:sp>
      <p:sp>
        <p:nvSpPr>
          <p:cNvPr id="6" name="Text 4"/>
          <p:cNvSpPr/>
          <p:nvPr/>
        </p:nvSpPr>
        <p:spPr>
          <a:xfrm>
            <a:off x="1066800" y="2673138"/>
            <a:ext cx="4813808" cy="39422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1E9"/>
                </a:solidFill>
                <a:latin typeface="Lato" pitchFamily="34" charset="0"/>
                <a:ea typeface="Lato" pitchFamily="34" charset="-122"/>
                <a:cs typeface="Lato" pitchFamily="34" charset="-120"/>
              </a:rPr>
              <a:t>The document engine</a:t>
            </a:r>
            <a:endParaRPr lang="en-US" sz="2200" dirty="0"/>
          </a:p>
        </p:txBody>
      </p:sp>
      <p:sp>
        <p:nvSpPr>
          <p:cNvPr id="7" name="Text 5"/>
          <p:cNvSpPr/>
          <p:nvPr/>
        </p:nvSpPr>
        <p:spPr>
          <a:xfrm>
            <a:off x="1066800" y="3118168"/>
            <a:ext cx="4813808" cy="96424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6BA"/>
                </a:solidFill>
                <a:latin typeface="Lato" pitchFamily="34" charset="0"/>
                <a:ea typeface="Lato" pitchFamily="34" charset="-122"/>
                <a:cs typeface="Lato" pitchFamily="34" charset="-120"/>
              </a:rPr>
              <a:t>Euro-Office: the editors, the layout engine, the x2t converter, and twenty years of reading other people's .docx. It already runs offline.</a:t>
            </a:r>
            <a:endParaRPr lang="en-US" sz="1600" dirty="0"/>
          </a:p>
        </p:txBody>
      </p:sp>
      <p:sp>
        <p:nvSpPr>
          <p:cNvPr id="8" name="Shape 6"/>
          <p:cNvSpPr/>
          <p:nvPr/>
        </p:nvSpPr>
        <p:spPr>
          <a:xfrm>
            <a:off x="6197600" y="2108200"/>
            <a:ext cx="5181600" cy="2203450"/>
          </a:xfrm>
          <a:prstGeom prst="roundRect">
            <a:avLst>
              <a:gd name="adj" fmla="val 6916"/>
            </a:avLst>
          </a:prstGeom>
          <a:solidFill>
            <a:srgbClr val="2E2925"/>
          </a:solidFill>
          <a:ln/>
        </p:spPr>
      </p:sp>
      <p:sp>
        <p:nvSpPr>
          <p:cNvPr id="9" name="Text 7"/>
          <p:cNvSpPr/>
          <p:nvPr/>
        </p:nvSpPr>
        <p:spPr>
          <a:xfrm>
            <a:off x="6451600" y="2362200"/>
            <a:ext cx="4813808" cy="260138"/>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8A6E"/>
                </a:solidFill>
                <a:latin typeface="Lato" pitchFamily="34" charset="0"/>
                <a:ea typeface="Lato" pitchFamily="34" charset="-122"/>
                <a:cs typeface="Lato" pitchFamily="34" charset="-120"/>
              </a:rPr>
              <a:t>OURS</a:t>
            </a:r>
            <a:endParaRPr lang="en-US" sz="1200" dirty="0"/>
          </a:p>
        </p:txBody>
      </p:sp>
      <p:sp>
        <p:nvSpPr>
          <p:cNvPr id="10" name="Text 8"/>
          <p:cNvSpPr/>
          <p:nvPr/>
        </p:nvSpPr>
        <p:spPr>
          <a:xfrm>
            <a:off x="6451600" y="2673138"/>
            <a:ext cx="4813808" cy="394229"/>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1E9"/>
                </a:solidFill>
                <a:latin typeface="Lato" pitchFamily="34" charset="0"/>
                <a:ea typeface="Lato" pitchFamily="34" charset="-122"/>
                <a:cs typeface="Lato" pitchFamily="34" charset="-120"/>
              </a:rPr>
              <a:t>The desktop host</a:t>
            </a:r>
            <a:endParaRPr lang="en-US" sz="2200" dirty="0"/>
          </a:p>
        </p:txBody>
      </p:sp>
      <p:sp>
        <p:nvSpPr>
          <p:cNvPr id="11" name="Text 9"/>
          <p:cNvSpPr/>
          <p:nvPr/>
        </p:nvSpPr>
        <p:spPr>
          <a:xfrm>
            <a:off x="6451600" y="3118168"/>
            <a:ext cx="4813808" cy="96424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6BA"/>
                </a:solidFill>
                <a:latin typeface="Lato" pitchFamily="34" charset="0"/>
                <a:ea typeface="Lato" pitchFamily="34" charset="-122"/>
                <a:cs typeface="Lato" pitchFamily="34" charset="-120"/>
              </a:rPr>
              <a:t>Windows, menus, native dialogs, opening and saving, crash recovery, and packages for three platforms. Small enough for one team to own.</a:t>
            </a:r>
            <a:endParaRPr lang="en-US" sz="1600" dirty="0"/>
          </a:p>
        </p:txBody>
      </p:sp>
      <p:sp>
        <p:nvSpPr>
          <p:cNvPr id="12" name="Text 10"/>
          <p:cNvSpPr/>
          <p:nvPr/>
        </p:nvSpPr>
        <p:spPr>
          <a:xfrm>
            <a:off x="812800" y="4556971"/>
            <a:ext cx="9810750" cy="65129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1E9"/>
                </a:solidFill>
                <a:latin typeface="Lato" pitchFamily="34" charset="0"/>
                <a:ea typeface="Lato" pitchFamily="34" charset="-122"/>
                <a:cs typeface="Lato" pitchFamily="34" charset="-120"/>
              </a:rPr>
              <a:t>ODF too: .odt, .ods and .odp open and save today, and we are actively improving how faithfully they round-trip.</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1E9"/>
        </a:solidFill>
      </p:bgPr>
    </p:bg>
    <p:spTree>
      <p:nvGrpSpPr>
        <p:cNvPr id="1" name=""/>
        <p:cNvGrpSpPr/>
        <p:nvPr/>
      </p:nvGrpSpPr>
      <p:grpSpPr>
        <a:xfrm>
          <a:off x="0" y="0"/>
          <a:ext cx="0" cy="0"/>
          <a:chOff x="0" y="0"/>
          <a:chExt cx="0" cy="0"/>
        </a:xfrm>
      </p:grpSpPr>
      <p:sp>
        <p:nvSpPr>
          <p:cNvPr id="2" name="Text 0"/>
          <p:cNvSpPr/>
          <p:nvPr/>
        </p:nvSpPr>
        <p:spPr>
          <a:xfrm>
            <a:off x="812800" y="812800"/>
            <a:ext cx="10883392" cy="260138"/>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462B"/>
                </a:solidFill>
                <a:latin typeface="Lato" pitchFamily="34" charset="0"/>
                <a:ea typeface="Lato" pitchFamily="34" charset="-122"/>
                <a:cs typeface="Lato" pitchFamily="34" charset="-120"/>
              </a:rPr>
              <a:t>ARCHITECTURE</a:t>
            </a:r>
            <a:endParaRPr lang="en-US" sz="1200" dirty="0"/>
          </a:p>
        </p:txBody>
      </p:sp>
      <p:sp>
        <p:nvSpPr>
          <p:cNvPr id="3" name="Text 1"/>
          <p:cNvSpPr/>
          <p:nvPr>
            <p:ph type="title"/>
          </p:nvPr>
        </p:nvSpPr>
        <p:spPr>
          <a:xfrm>
            <a:off x="812800" y="1199938"/>
            <a:ext cx="10883392" cy="57859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17"/>
                </a:solidFill>
                <a:latin typeface="Lato" pitchFamily="34" charset="0"/>
                <a:ea typeface="Lato" pitchFamily="34" charset="-122"/>
                <a:cs typeface="Lato" pitchFamily="34" charset="-120"/>
              </a:rPr>
              <a:t>The editors talk to one object</a:t>
            </a:r>
            <a:endParaRPr lang="en-US" sz="3600" dirty="0"/>
          </a:p>
        </p:txBody>
      </p:sp>
      <p:sp>
        <p:nvSpPr>
          <p:cNvPr id="4" name="Text 2"/>
          <p:cNvSpPr/>
          <p:nvPr/>
        </p:nvSpPr>
        <p:spPr>
          <a:xfrm>
            <a:off x="812800" y="1905529"/>
            <a:ext cx="10464800" cy="65129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E554E"/>
                </a:solidFill>
                <a:latin typeface="Lato" pitchFamily="34" charset="0"/>
                <a:ea typeface="Lato" pitchFamily="34" charset="-122"/>
                <a:cs typeface="Lato" pitchFamily="34" charset="-120"/>
              </a:rPr>
              <a:t>The offline build calls a JavaScript object, window.AscDesktopEditor, for everything a browser cannot do. Upstream implements it in C++ with CEF and Qt. We implement it in JavaScript and Python.</a:t>
            </a:r>
            <a:endParaRPr lang="en-US" sz="1600" dirty="0"/>
          </a:p>
        </p:txBody>
      </p:sp>
      <p:sp>
        <p:nvSpPr>
          <p:cNvPr id="5" name="Shape 3"/>
          <p:cNvSpPr/>
          <p:nvPr/>
        </p:nvSpPr>
        <p:spPr>
          <a:xfrm>
            <a:off x="812800" y="2683827"/>
            <a:ext cx="10566400" cy="572982"/>
          </a:xfrm>
          <a:prstGeom prst="roundRect">
            <a:avLst>
              <a:gd name="adj" fmla="val 22165"/>
            </a:avLst>
          </a:prstGeom>
          <a:solidFill>
            <a:srgbClr val="FFFFFF"/>
          </a:solidFill>
          <a:ln/>
        </p:spPr>
      </p:sp>
      <p:sp>
        <p:nvSpPr>
          <p:cNvPr id="6" name="Text 4"/>
          <p:cNvSpPr/>
          <p:nvPr/>
        </p:nvSpPr>
        <p:spPr>
          <a:xfrm>
            <a:off x="1066800" y="2836227"/>
            <a:ext cx="1962150" cy="29358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A17"/>
                </a:solidFill>
                <a:latin typeface="Lato" pitchFamily="34" charset="0"/>
                <a:ea typeface="Lato" pitchFamily="34" charset="-122"/>
                <a:cs typeface="Lato" pitchFamily="34" charset="-120"/>
              </a:rPr>
              <a:t>The editors</a:t>
            </a:r>
            <a:endParaRPr lang="en-US" sz="1600" dirty="0"/>
          </a:p>
        </p:txBody>
      </p:sp>
      <p:sp>
        <p:nvSpPr>
          <p:cNvPr id="7" name="Text 5"/>
          <p:cNvSpPr/>
          <p:nvPr/>
        </p:nvSpPr>
        <p:spPr>
          <a:xfrm>
            <a:off x="3175000" y="2852950"/>
            <a:ext cx="8188706" cy="2601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54E"/>
                </a:solidFill>
                <a:latin typeface="Lato" pitchFamily="34" charset="0"/>
                <a:ea typeface="Lato" pitchFamily="34" charset="-122"/>
                <a:cs typeface="Lato" pitchFamily="34" charset="-120"/>
              </a:rPr>
              <a:t>sdkjs and web-apps, in the system's own webview: WebKit, WebKitGTK or WebView2</a:t>
            </a:r>
            <a:endParaRPr lang="en-US" sz="1200" dirty="0"/>
          </a:p>
        </p:txBody>
      </p:sp>
      <p:sp>
        <p:nvSpPr>
          <p:cNvPr id="8" name="Shape 6"/>
          <p:cNvSpPr/>
          <p:nvPr/>
        </p:nvSpPr>
        <p:spPr>
          <a:xfrm>
            <a:off x="812800" y="3333009"/>
            <a:ext cx="10566400" cy="819150"/>
          </a:xfrm>
          <a:prstGeom prst="roundRect">
            <a:avLst>
              <a:gd name="adj" fmla="val 15504"/>
            </a:avLst>
          </a:prstGeom>
          <a:solidFill>
            <a:srgbClr val="B5462B"/>
          </a:solidFill>
          <a:ln/>
        </p:spPr>
      </p:sp>
      <p:sp>
        <p:nvSpPr>
          <p:cNvPr id="9" name="Text 7"/>
          <p:cNvSpPr/>
          <p:nvPr/>
        </p:nvSpPr>
        <p:spPr>
          <a:xfrm>
            <a:off x="1066800" y="3608493"/>
            <a:ext cx="1962150" cy="29358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1E9"/>
                </a:solidFill>
                <a:latin typeface="Lato" pitchFamily="34" charset="0"/>
                <a:ea typeface="Lato" pitchFamily="34" charset="-122"/>
                <a:cs typeface="Lato" pitchFamily="34" charset="-120"/>
              </a:rPr>
              <a:t>The bridge</a:t>
            </a:r>
            <a:endParaRPr lang="en-US" sz="1600" dirty="0"/>
          </a:p>
        </p:txBody>
      </p:sp>
      <p:sp>
        <p:nvSpPr>
          <p:cNvPr id="10" name="Text 8"/>
          <p:cNvSpPr/>
          <p:nvPr/>
        </p:nvSpPr>
        <p:spPr>
          <a:xfrm>
            <a:off x="3175000" y="3485409"/>
            <a:ext cx="8188706" cy="279612"/>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6F1E9"/>
                </a:solidFill>
                <a:latin typeface="JetBrains Mono" pitchFamily="49" charset="0"/>
                <a:ea typeface="JetBrains Mono" pitchFamily="49" charset="-122"/>
                <a:cs typeface="JetBrains Mono" pitchFamily="49" charset="-120"/>
              </a:rPr>
              <a:t>window.AscDesktopEditor</a:t>
            </a:r>
            <a:endParaRPr lang="en-US" sz="1400" dirty="0"/>
          </a:p>
        </p:txBody>
      </p:sp>
      <p:sp>
        <p:nvSpPr>
          <p:cNvPr id="11" name="Text 9"/>
          <p:cNvSpPr/>
          <p:nvPr/>
        </p:nvSpPr>
        <p:spPr>
          <a:xfrm>
            <a:off x="3175000" y="3765021"/>
            <a:ext cx="8188706" cy="2601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1E9"/>
                </a:solidFill>
                <a:latin typeface="Lato" pitchFamily="34" charset="0"/>
                <a:ea typeface="Lato" pitchFamily="34" charset="-122"/>
                <a:cs typeface="Lato" pitchFamily="34" charset="-120"/>
              </a:rPr>
              <a:t>about 1,000 lines of JavaScript, injected into every page before the editors' own scripts run</a:t>
            </a:r>
            <a:endParaRPr lang="en-US" sz="1200" dirty="0"/>
          </a:p>
        </p:txBody>
      </p:sp>
      <p:sp>
        <p:nvSpPr>
          <p:cNvPr id="12" name="Shape 10"/>
          <p:cNvSpPr/>
          <p:nvPr/>
        </p:nvSpPr>
        <p:spPr>
          <a:xfrm>
            <a:off x="812800" y="4228359"/>
            <a:ext cx="10566400" cy="572982"/>
          </a:xfrm>
          <a:prstGeom prst="roundRect">
            <a:avLst>
              <a:gd name="adj" fmla="val 22165"/>
            </a:avLst>
          </a:prstGeom>
          <a:solidFill>
            <a:srgbClr val="FFFFFF"/>
          </a:solidFill>
          <a:ln/>
        </p:spPr>
      </p:sp>
      <p:sp>
        <p:nvSpPr>
          <p:cNvPr id="13" name="Text 11"/>
          <p:cNvSpPr/>
          <p:nvPr/>
        </p:nvSpPr>
        <p:spPr>
          <a:xfrm>
            <a:off x="1066800" y="4380759"/>
            <a:ext cx="1962150" cy="29358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A17"/>
                </a:solidFill>
                <a:latin typeface="Lato" pitchFamily="34" charset="0"/>
                <a:ea typeface="Lato" pitchFamily="34" charset="-122"/>
                <a:cs typeface="Lato" pitchFamily="34" charset="-120"/>
              </a:rPr>
              <a:t>The host</a:t>
            </a:r>
            <a:endParaRPr lang="en-US" sz="1600" dirty="0"/>
          </a:p>
        </p:txBody>
      </p:sp>
      <p:sp>
        <p:nvSpPr>
          <p:cNvPr id="14" name="Text 12"/>
          <p:cNvSpPr/>
          <p:nvPr/>
        </p:nvSpPr>
        <p:spPr>
          <a:xfrm>
            <a:off x="3175000" y="4397480"/>
            <a:ext cx="8188706" cy="2601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54E"/>
                </a:solidFill>
                <a:latin typeface="Lato" pitchFamily="34" charset="0"/>
                <a:ea typeface="Lato" pitchFamily="34" charset="-122"/>
                <a:cs typeface="Lato" pitchFamily="34" charset="-120"/>
              </a:rPr>
              <a:t>Python, serving the editor on 127.0.0.1: sessions, windows, menus and native dialogs, through pywebview</a:t>
            </a:r>
            <a:endParaRPr lang="en-US" sz="1200" dirty="0"/>
          </a:p>
        </p:txBody>
      </p:sp>
      <p:sp>
        <p:nvSpPr>
          <p:cNvPr id="15" name="Shape 13"/>
          <p:cNvSpPr/>
          <p:nvPr/>
        </p:nvSpPr>
        <p:spPr>
          <a:xfrm>
            <a:off x="812800" y="4877541"/>
            <a:ext cx="10566400" cy="572982"/>
          </a:xfrm>
          <a:prstGeom prst="roundRect">
            <a:avLst>
              <a:gd name="adj" fmla="val 22165"/>
            </a:avLst>
          </a:prstGeom>
          <a:solidFill>
            <a:srgbClr val="FFFFFF"/>
          </a:solidFill>
          <a:ln/>
        </p:spPr>
      </p:sp>
      <p:sp>
        <p:nvSpPr>
          <p:cNvPr id="16" name="Text 14"/>
          <p:cNvSpPr/>
          <p:nvPr/>
        </p:nvSpPr>
        <p:spPr>
          <a:xfrm>
            <a:off x="1066800" y="5029941"/>
            <a:ext cx="1962150" cy="29358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A17"/>
                </a:solidFill>
                <a:latin typeface="Lato" pitchFamily="34" charset="0"/>
                <a:ea typeface="Lato" pitchFamily="34" charset="-122"/>
                <a:cs typeface="Lato" pitchFamily="34" charset="-120"/>
              </a:rPr>
              <a:t>The converter</a:t>
            </a:r>
            <a:endParaRPr lang="en-US" sz="1600" dirty="0"/>
          </a:p>
        </p:txBody>
      </p:sp>
      <p:sp>
        <p:nvSpPr>
          <p:cNvPr id="17" name="Text 15"/>
          <p:cNvSpPr/>
          <p:nvPr/>
        </p:nvSpPr>
        <p:spPr>
          <a:xfrm>
            <a:off x="3175000" y="5046663"/>
            <a:ext cx="8188706" cy="2601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54E"/>
                </a:solidFill>
                <a:latin typeface="Lato" pitchFamily="34" charset="0"/>
                <a:ea typeface="Lato" pitchFamily="34" charset="-122"/>
                <a:cs typeface="Lato" pitchFamily="34" charset="-120"/>
              </a:rPr>
              <a:t>upstream's x2t, in C++, for every format; doctrenderer embeds V8 for PDF</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60138"/>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462B"/>
                </a:solidFill>
                <a:latin typeface="Lato" pitchFamily="34" charset="0"/>
                <a:ea typeface="Lato" pitchFamily="34" charset="-122"/>
                <a:cs typeface="Lato" pitchFamily="34" charset="-120"/>
              </a:rPr>
              <a:t>HOW A DOCUMENT MOVES</a:t>
            </a:r>
            <a:endParaRPr lang="en-US" sz="1200" dirty="0"/>
          </a:p>
        </p:txBody>
      </p:sp>
      <p:sp>
        <p:nvSpPr>
          <p:cNvPr id="3" name="Text 1"/>
          <p:cNvSpPr/>
          <p:nvPr>
            <p:ph type="title"/>
          </p:nvPr>
        </p:nvSpPr>
        <p:spPr>
          <a:xfrm>
            <a:off x="812800" y="1301538"/>
            <a:ext cx="10883392" cy="57859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17"/>
                </a:solidFill>
                <a:latin typeface="Lato" pitchFamily="34" charset="0"/>
                <a:ea typeface="Lato" pitchFamily="34" charset="-122"/>
                <a:cs typeface="Lato" pitchFamily="34" charset="-120"/>
              </a:rPr>
              <a:t>The editors never write a document</a:t>
            </a:r>
            <a:endParaRPr lang="en-US" sz="3600" dirty="0"/>
          </a:p>
        </p:txBody>
      </p:sp>
      <p:sp>
        <p:nvSpPr>
          <p:cNvPr id="4" name="Shape 2"/>
          <p:cNvSpPr/>
          <p:nvPr/>
        </p:nvSpPr>
        <p:spPr>
          <a:xfrm>
            <a:off x="812800" y="2108729"/>
            <a:ext cx="3048000" cy="1502833"/>
          </a:xfrm>
          <a:prstGeom prst="roundRect">
            <a:avLst>
              <a:gd name="adj" fmla="val 10141"/>
            </a:avLst>
          </a:prstGeom>
          <a:solidFill>
            <a:srgbClr val="F6F1E9"/>
          </a:solidFill>
          <a:ln/>
        </p:spPr>
      </p:sp>
      <p:sp>
        <p:nvSpPr>
          <p:cNvPr id="5" name="Text 3"/>
          <p:cNvSpPr/>
          <p:nvPr/>
        </p:nvSpPr>
        <p:spPr>
          <a:xfrm>
            <a:off x="1066800" y="2311929"/>
            <a:ext cx="2616200" cy="260138"/>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462B"/>
                </a:solidFill>
                <a:latin typeface="Lato" pitchFamily="34" charset="0"/>
                <a:ea typeface="Lato" pitchFamily="34" charset="-122"/>
                <a:cs typeface="Lato" pitchFamily="34" charset="-120"/>
              </a:rPr>
              <a:t>OPEN</a:t>
            </a:r>
            <a:endParaRPr lang="en-US" sz="1200" dirty="0"/>
          </a:p>
        </p:txBody>
      </p:sp>
      <p:sp>
        <p:nvSpPr>
          <p:cNvPr id="6" name="Text 4"/>
          <p:cNvSpPr/>
          <p:nvPr/>
        </p:nvSpPr>
        <p:spPr>
          <a:xfrm>
            <a:off x="1066800" y="2597468"/>
            <a:ext cx="2616200" cy="316018"/>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E1A17"/>
                </a:solidFill>
                <a:latin typeface="JetBrains Mono" pitchFamily="49" charset="0"/>
                <a:ea typeface="JetBrains Mono" pitchFamily="49" charset="-122"/>
                <a:cs typeface="JetBrains Mono" pitchFamily="49" charset="-120"/>
              </a:rPr>
              <a:t>report.docx</a:t>
            </a:r>
            <a:endParaRPr lang="en-US" sz="1600" dirty="0"/>
          </a:p>
        </p:txBody>
      </p:sp>
      <p:sp>
        <p:nvSpPr>
          <p:cNvPr id="7" name="Text 5"/>
          <p:cNvSpPr/>
          <p:nvPr/>
        </p:nvSpPr>
        <p:spPr>
          <a:xfrm>
            <a:off x="1066800" y="2938886"/>
            <a:ext cx="2616200" cy="49487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54E"/>
                </a:solidFill>
                <a:latin typeface="Lato" pitchFamily="34" charset="0"/>
                <a:ea typeface="Lato" pitchFamily="34" charset="-122"/>
                <a:cs typeface="Lato" pitchFamily="34" charset="-120"/>
              </a:rPr>
              <a:t>x2t converts it into the editor's working copy</a:t>
            </a:r>
            <a:endParaRPr lang="en-US" sz="1200" dirty="0"/>
          </a:p>
        </p:txBody>
      </p:sp>
      <p:pic>
        <p:nvPicPr>
          <p:cNvPr id="8" name="Image 0" descr="connector">    </p:cNvPr>
          <p:cNvPicPr>
            <a:picLocks noChangeAspect="1"/>
          </p:cNvPicPr>
          <p:nvPr/>
        </p:nvPicPr>
        <p:blipFill>
          <a:blip r:embed="rId1"/>
          <a:srcRect l="0" r="0" t="0" b="0"/>
          <a:stretch/>
        </p:blipFill>
        <p:spPr>
          <a:xfrm>
            <a:off x="4013200" y="2796646"/>
            <a:ext cx="406400" cy="127000"/>
          </a:xfrm>
          <a:prstGeom prst="rect">
            <a:avLst/>
          </a:prstGeom>
        </p:spPr>
      </p:pic>
      <p:sp>
        <p:nvSpPr>
          <p:cNvPr id="9" name="Shape 6"/>
          <p:cNvSpPr/>
          <p:nvPr/>
        </p:nvSpPr>
        <p:spPr>
          <a:xfrm>
            <a:off x="4572000" y="2108729"/>
            <a:ext cx="3048000" cy="1502833"/>
          </a:xfrm>
          <a:prstGeom prst="roundRect">
            <a:avLst>
              <a:gd name="adj" fmla="val 10141"/>
            </a:avLst>
          </a:prstGeom>
          <a:solidFill>
            <a:srgbClr val="F6F1E9"/>
          </a:solidFill>
          <a:ln/>
        </p:spPr>
      </p:sp>
      <p:sp>
        <p:nvSpPr>
          <p:cNvPr id="10" name="Text 7"/>
          <p:cNvSpPr/>
          <p:nvPr/>
        </p:nvSpPr>
        <p:spPr>
          <a:xfrm>
            <a:off x="4826000" y="2311929"/>
            <a:ext cx="2616200" cy="260138"/>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462B"/>
                </a:solidFill>
                <a:latin typeface="Lato" pitchFamily="34" charset="0"/>
                <a:ea typeface="Lato" pitchFamily="34" charset="-122"/>
                <a:cs typeface="Lato" pitchFamily="34" charset="-120"/>
              </a:rPr>
              <a:t>EDIT</a:t>
            </a:r>
            <a:endParaRPr lang="en-US" sz="1200" dirty="0"/>
          </a:p>
        </p:txBody>
      </p:sp>
      <p:sp>
        <p:nvSpPr>
          <p:cNvPr id="11" name="Text 8"/>
          <p:cNvSpPr/>
          <p:nvPr/>
        </p:nvSpPr>
        <p:spPr>
          <a:xfrm>
            <a:off x="4826000" y="2597468"/>
            <a:ext cx="2616200" cy="316018"/>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E1A17"/>
                </a:solidFill>
                <a:latin typeface="JetBrains Mono" pitchFamily="49" charset="0"/>
                <a:ea typeface="JetBrains Mono" pitchFamily="49" charset="-122"/>
                <a:cs typeface="JetBrains Mono" pitchFamily="49" charset="-120"/>
              </a:rPr>
              <a:t>Editor.bin + log</a:t>
            </a:r>
            <a:endParaRPr lang="en-US" sz="1600" dirty="0"/>
          </a:p>
        </p:txBody>
      </p:sp>
      <p:sp>
        <p:nvSpPr>
          <p:cNvPr id="12" name="Text 9"/>
          <p:cNvSpPr/>
          <p:nvPr/>
        </p:nvSpPr>
        <p:spPr>
          <a:xfrm>
            <a:off x="4826000" y="2938886"/>
            <a:ext cx="2616200" cy="2601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54E"/>
                </a:solidFill>
                <a:latin typeface="Lato" pitchFamily="34" charset="0"/>
                <a:ea typeface="Lato" pitchFamily="34" charset="-122"/>
                <a:cs typeface="Lato" pitchFamily="34" charset="-120"/>
              </a:rPr>
              <a:t>every change is streamed to a log</a:t>
            </a:r>
            <a:endParaRPr lang="en-US" sz="1200" dirty="0"/>
          </a:p>
        </p:txBody>
      </p:sp>
      <p:pic>
        <p:nvPicPr>
          <p:cNvPr id="13" name="Image 1" descr="connector">    </p:cNvPr>
          <p:cNvPicPr>
            <a:picLocks noChangeAspect="1"/>
          </p:cNvPicPr>
          <p:nvPr/>
        </p:nvPicPr>
        <p:blipFill>
          <a:blip r:embed="rId2"/>
          <a:srcRect l="0" r="0" t="0" b="0"/>
          <a:stretch/>
        </p:blipFill>
        <p:spPr>
          <a:xfrm>
            <a:off x="7772400" y="2796646"/>
            <a:ext cx="406400" cy="127000"/>
          </a:xfrm>
          <a:prstGeom prst="rect">
            <a:avLst/>
          </a:prstGeom>
        </p:spPr>
      </p:pic>
      <p:sp>
        <p:nvSpPr>
          <p:cNvPr id="14" name="Shape 10"/>
          <p:cNvSpPr/>
          <p:nvPr/>
        </p:nvSpPr>
        <p:spPr>
          <a:xfrm>
            <a:off x="8331200" y="2108729"/>
            <a:ext cx="3048000" cy="1502833"/>
          </a:xfrm>
          <a:prstGeom prst="roundRect">
            <a:avLst>
              <a:gd name="adj" fmla="val 10141"/>
            </a:avLst>
          </a:prstGeom>
          <a:solidFill>
            <a:srgbClr val="F6F1E9"/>
          </a:solidFill>
          <a:ln/>
        </p:spPr>
      </p:sp>
      <p:sp>
        <p:nvSpPr>
          <p:cNvPr id="15" name="Text 11"/>
          <p:cNvSpPr/>
          <p:nvPr/>
        </p:nvSpPr>
        <p:spPr>
          <a:xfrm>
            <a:off x="8585200" y="2311929"/>
            <a:ext cx="2616200" cy="260138"/>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462B"/>
                </a:solidFill>
                <a:latin typeface="Lato" pitchFamily="34" charset="0"/>
                <a:ea typeface="Lato" pitchFamily="34" charset="-122"/>
                <a:cs typeface="Lato" pitchFamily="34" charset="-120"/>
              </a:rPr>
              <a:t>SAVE</a:t>
            </a:r>
            <a:endParaRPr lang="en-US" sz="1200" dirty="0"/>
          </a:p>
        </p:txBody>
      </p:sp>
      <p:sp>
        <p:nvSpPr>
          <p:cNvPr id="16" name="Text 12"/>
          <p:cNvSpPr/>
          <p:nvPr/>
        </p:nvSpPr>
        <p:spPr>
          <a:xfrm>
            <a:off x="8585200" y="2597468"/>
            <a:ext cx="2616200" cy="316018"/>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E1A17"/>
                </a:solidFill>
                <a:latin typeface="JetBrains Mono" pitchFamily="49" charset="0"/>
                <a:ea typeface="JetBrains Mono" pitchFamily="49" charset="-122"/>
                <a:cs typeface="JetBrains Mono" pitchFamily="49" charset="-120"/>
              </a:rPr>
              <a:t>report.docx</a:t>
            </a:r>
            <a:endParaRPr lang="en-US" sz="1600" dirty="0"/>
          </a:p>
        </p:txBody>
      </p:sp>
      <p:sp>
        <p:nvSpPr>
          <p:cNvPr id="17" name="Text 13"/>
          <p:cNvSpPr/>
          <p:nvPr/>
        </p:nvSpPr>
        <p:spPr>
          <a:xfrm>
            <a:off x="8585200" y="2938886"/>
            <a:ext cx="2616200" cy="49487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54E"/>
                </a:solidFill>
                <a:latin typeface="Lato" pitchFamily="34" charset="0"/>
                <a:ea typeface="Lato" pitchFamily="34" charset="-122"/>
                <a:cs typeface="Lato" pitchFamily="34" charset="-120"/>
              </a:rPr>
              <a:t>x2t merges both back, in the format you opened</a:t>
            </a:r>
            <a:endParaRPr lang="en-US" sz="1200" dirty="0"/>
          </a:p>
        </p:txBody>
      </p:sp>
      <p:pic>
        <p:nvPicPr>
          <p:cNvPr id="18" name="Image 2" descr="line">    </p:cNvPr>
          <p:cNvPicPr>
            <a:picLocks noChangeAspect="1"/>
          </p:cNvPicPr>
          <p:nvPr/>
        </p:nvPicPr>
        <p:blipFill>
          <a:blip r:embed="rId3"/>
          <a:srcRect l="0" r="0" t="0" b="0"/>
          <a:stretch/>
        </p:blipFill>
        <p:spPr>
          <a:xfrm>
            <a:off x="812800" y="3865563"/>
            <a:ext cx="10566400" cy="12700"/>
          </a:xfrm>
          <a:prstGeom prst="rect">
            <a:avLst/>
          </a:prstGeom>
        </p:spPr>
      </p:pic>
      <p:sp>
        <p:nvSpPr>
          <p:cNvPr id="19" name="Text 14"/>
          <p:cNvSpPr/>
          <p:nvPr/>
        </p:nvSpPr>
        <p:spPr>
          <a:xfrm>
            <a:off x="863600" y="4132263"/>
            <a:ext cx="3313853" cy="29358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A17"/>
                </a:solidFill>
                <a:latin typeface="Lato" pitchFamily="34" charset="0"/>
                <a:ea typeface="Lato" pitchFamily="34" charset="-122"/>
                <a:cs typeface="Lato" pitchFamily="34" charset="-120"/>
              </a:rPr>
              <a:t>Closing saves on its own</a:t>
            </a:r>
            <a:endParaRPr lang="en-US" sz="1600" dirty="0"/>
          </a:p>
        </p:txBody>
      </p:sp>
      <p:sp>
        <p:nvSpPr>
          <p:cNvPr id="20" name="Text 15"/>
          <p:cNvSpPr/>
          <p:nvPr/>
        </p:nvSpPr>
        <p:spPr>
          <a:xfrm>
            <a:off x="863600" y="4451245"/>
            <a:ext cx="3313853" cy="72961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54E"/>
                </a:solidFill>
                <a:latin typeface="Lato" pitchFamily="34" charset="0"/>
                <a:ea typeface="Lato" pitchFamily="34" charset="-122"/>
                <a:cs typeface="Lato" pitchFamily="34" charset="-120"/>
              </a:rPr>
              <a:t>The host already holds the working copy and the log, so it saves without asking the editor anything.</a:t>
            </a:r>
            <a:endParaRPr lang="en-US" sz="1200" dirty="0"/>
          </a:p>
        </p:txBody>
      </p:sp>
      <p:sp>
        <p:nvSpPr>
          <p:cNvPr id="21" name="Text 16"/>
          <p:cNvSpPr/>
          <p:nvPr/>
        </p:nvSpPr>
        <p:spPr>
          <a:xfrm>
            <a:off x="4487333" y="4132263"/>
            <a:ext cx="3313853" cy="29358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A17"/>
                </a:solidFill>
                <a:latin typeface="Lato" pitchFamily="34" charset="0"/>
                <a:ea typeface="Lato" pitchFamily="34" charset="-122"/>
                <a:cs typeface="Lato" pitchFamily="34" charset="-120"/>
              </a:rPr>
              <a:t>A crash loses nothing</a:t>
            </a:r>
            <a:endParaRPr lang="en-US" sz="1600" dirty="0"/>
          </a:p>
        </p:txBody>
      </p:sp>
      <p:sp>
        <p:nvSpPr>
          <p:cNvPr id="22" name="Text 17"/>
          <p:cNvSpPr/>
          <p:nvPr/>
        </p:nvSpPr>
        <p:spPr>
          <a:xfrm>
            <a:off x="4487333" y="4451245"/>
            <a:ext cx="3313853" cy="72961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54E"/>
                </a:solidFill>
                <a:latin typeface="Lato" pitchFamily="34" charset="0"/>
                <a:ea typeface="Lato" pitchFamily="34" charset="-122"/>
                <a:cs typeface="Lato" pitchFamily="34" charset="-120"/>
              </a:rPr>
              <a:t>The working copy and the log are on disk. Crash recovery offers them back the next time.</a:t>
            </a:r>
            <a:endParaRPr lang="en-US" sz="1200" dirty="0"/>
          </a:p>
        </p:txBody>
      </p:sp>
      <p:sp>
        <p:nvSpPr>
          <p:cNvPr id="23" name="Text 18"/>
          <p:cNvSpPr/>
          <p:nvPr/>
        </p:nvSpPr>
        <p:spPr>
          <a:xfrm>
            <a:off x="8111067" y="4132263"/>
            <a:ext cx="3313853" cy="29358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A17"/>
                </a:solidFill>
                <a:latin typeface="Lato" pitchFamily="34" charset="0"/>
                <a:ea typeface="Lato" pitchFamily="34" charset="-122"/>
                <a:cs typeface="Lato" pitchFamily="34" charset="-120"/>
              </a:rPr>
              <a:t>Print matches the screen</a:t>
            </a:r>
            <a:endParaRPr lang="en-US" sz="1600" dirty="0"/>
          </a:p>
        </p:txBody>
      </p:sp>
      <p:sp>
        <p:nvSpPr>
          <p:cNvPr id="24" name="Text 19"/>
          <p:cNvSpPr/>
          <p:nvPr/>
        </p:nvSpPr>
        <p:spPr>
          <a:xfrm>
            <a:off x="8111067" y="4451245"/>
            <a:ext cx="3313853" cy="72961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54E"/>
                </a:solidFill>
                <a:latin typeface="Lato" pitchFamily="34" charset="0"/>
                <a:ea typeface="Lato" pitchFamily="34" charset="-122"/>
                <a:cs typeface="Lato" pitchFamily="34" charset="-120"/>
              </a:rPr>
              <a:t>doctrenderer runs the editor's own layout engine in V8, so the PDF is laid out by the same code.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1E9"/>
        </a:solidFill>
      </p:bgPr>
    </p:bg>
    <p:spTree>
      <p:nvGrpSpPr>
        <p:cNvPr id="1" name=""/>
        <p:cNvGrpSpPr/>
        <p:nvPr/>
      </p:nvGrpSpPr>
      <p:grpSpPr>
        <a:xfrm>
          <a:off x="0" y="0"/>
          <a:ext cx="0" cy="0"/>
          <a:chOff x="0" y="0"/>
          <a:chExt cx="0" cy="0"/>
        </a:xfrm>
      </p:grpSpPr>
      <p:sp>
        <p:nvSpPr>
          <p:cNvPr id="2" name="Text 0"/>
          <p:cNvSpPr/>
          <p:nvPr/>
        </p:nvSpPr>
        <p:spPr>
          <a:xfrm>
            <a:off x="812800" y="812800"/>
            <a:ext cx="10883392" cy="260138"/>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462B"/>
                </a:solidFill>
                <a:latin typeface="Lato" pitchFamily="34" charset="0"/>
                <a:ea typeface="Lato" pitchFamily="34" charset="-122"/>
                <a:cs typeface="Lato" pitchFamily="34" charset="-120"/>
              </a:rPr>
              <a:t>THE PATCH QUEUE</a:t>
            </a:r>
            <a:endParaRPr lang="en-US" sz="1200" dirty="0"/>
          </a:p>
        </p:txBody>
      </p:sp>
      <p:sp>
        <p:nvSpPr>
          <p:cNvPr id="3" name="Text 1"/>
          <p:cNvSpPr/>
          <p:nvPr>
            <p:ph type="title"/>
          </p:nvPr>
        </p:nvSpPr>
        <p:spPr>
          <a:xfrm>
            <a:off x="812800" y="1301539"/>
            <a:ext cx="10883392" cy="57859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1A17"/>
                </a:solidFill>
                <a:latin typeface="Lato" pitchFamily="34" charset="0"/>
                <a:ea typeface="Lato" pitchFamily="34" charset="-122"/>
                <a:cs typeface="Lato" pitchFamily="34" charset="-120"/>
              </a:rPr>
              <a:t>Pinned and patched in the open</a:t>
            </a:r>
            <a:endParaRPr lang="en-US" sz="3600" dirty="0"/>
          </a:p>
        </p:txBody>
      </p:sp>
      <p:sp>
        <p:nvSpPr>
          <p:cNvPr id="4" name="Text 2"/>
          <p:cNvSpPr/>
          <p:nvPr/>
        </p:nvSpPr>
        <p:spPr>
          <a:xfrm>
            <a:off x="812800" y="2108730"/>
            <a:ext cx="4185920" cy="11430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B5462B"/>
                </a:solidFill>
                <a:latin typeface="Lato" pitchFamily="34" charset="0"/>
                <a:ea typeface="Lato" pitchFamily="34" charset="-122"/>
                <a:cs typeface="Lato" pitchFamily="34" charset="-120"/>
              </a:rPr>
              <a:t>37</a:t>
            </a:r>
            <a:endParaRPr lang="en-US" sz="8000" dirty="0"/>
          </a:p>
        </p:txBody>
      </p:sp>
      <p:sp>
        <p:nvSpPr>
          <p:cNvPr id="5" name="Text 3"/>
          <p:cNvSpPr/>
          <p:nvPr/>
        </p:nvSpPr>
        <p:spPr>
          <a:xfrm>
            <a:off x="812800" y="3277130"/>
            <a:ext cx="4185920" cy="65129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E1A17"/>
                </a:solidFill>
                <a:latin typeface="Lato" pitchFamily="34" charset="0"/>
                <a:ea typeface="Lato" pitchFamily="34" charset="-122"/>
                <a:cs typeface="Lato" pitchFamily="34" charset="-120"/>
              </a:rPr>
              <a:t>patches, across core, sdkjs and web-apps. </a:t>
            </a:r>
            <a:r>
              <a:rPr lang="en-US" sz="1600" b="1" dirty="0">
                <a:solidFill>
                  <a:srgbClr val="1E1A17"/>
                </a:solidFill>
                <a:latin typeface="Lato" pitchFamily="34" charset="0"/>
                <a:ea typeface="Lato" pitchFamily="34" charset="-122"/>
                <a:cs typeface="Lato" pitchFamily="34" charset="-120"/>
              </a:rPr>
              <a:t>None touches the editing engine.</a:t>
            </a:r>
            <a:endParaRPr lang="en-US" sz="1600" dirty="0"/>
          </a:p>
        </p:txBody>
      </p:sp>
      <p:sp>
        <p:nvSpPr>
          <p:cNvPr id="6" name="Text 4"/>
          <p:cNvSpPr/>
          <p:nvPr/>
        </p:nvSpPr>
        <p:spPr>
          <a:xfrm>
            <a:off x="5334000" y="2219641"/>
            <a:ext cx="457200" cy="338349"/>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B5462B"/>
                </a:solidFill>
                <a:latin typeface="JetBrains Mono" pitchFamily="49" charset="0"/>
                <a:ea typeface="JetBrains Mono" pitchFamily="49" charset="-122"/>
                <a:cs typeface="JetBrains Mono" pitchFamily="49" charset="-120"/>
              </a:rPr>
              <a:t>21</a:t>
            </a:r>
            <a:endParaRPr lang="en-US" sz="1600" dirty="0"/>
          </a:p>
        </p:txBody>
      </p:sp>
      <p:sp>
        <p:nvSpPr>
          <p:cNvPr id="7" name="Text 5"/>
          <p:cNvSpPr/>
          <p:nvPr/>
        </p:nvSpPr>
        <p:spPr>
          <a:xfrm>
            <a:off x="5943600" y="2211704"/>
            <a:ext cx="2727579" cy="3383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E1A17"/>
                </a:solidFill>
                <a:latin typeface="Lato" pitchFamily="34" charset="0"/>
                <a:ea typeface="Lato" pitchFamily="34" charset="-122"/>
                <a:cs typeface="Lato" pitchFamily="34" charset="-120"/>
              </a:rPr>
              <a:t>make it build on macOS</a:t>
            </a:r>
            <a:endParaRPr lang="en-US" sz="1600" dirty="0"/>
          </a:p>
        </p:txBody>
      </p:sp>
      <p:sp>
        <p:nvSpPr>
          <p:cNvPr id="8" name="Text 6"/>
          <p:cNvSpPr/>
          <p:nvPr/>
        </p:nvSpPr>
        <p:spPr>
          <a:xfrm>
            <a:off x="5334000" y="2642130"/>
            <a:ext cx="457200" cy="338349"/>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B5462B"/>
                </a:solidFill>
                <a:latin typeface="JetBrains Mono" pitchFamily="49" charset="0"/>
                <a:ea typeface="JetBrains Mono" pitchFamily="49" charset="-122"/>
                <a:cs typeface="JetBrains Mono" pitchFamily="49" charset="-120"/>
              </a:rPr>
              <a:t>8</a:t>
            </a:r>
            <a:endParaRPr lang="en-US" sz="1600" dirty="0"/>
          </a:p>
        </p:txBody>
      </p:sp>
      <p:sp>
        <p:nvSpPr>
          <p:cNvPr id="9" name="Text 7"/>
          <p:cNvSpPr/>
          <p:nvPr/>
        </p:nvSpPr>
        <p:spPr>
          <a:xfrm>
            <a:off x="5943600" y="2634193"/>
            <a:ext cx="3002153" cy="3383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E1A17"/>
                </a:solidFill>
                <a:latin typeface="Lato" pitchFamily="34" charset="0"/>
                <a:ea typeface="Lato" pitchFamily="34" charset="-122"/>
                <a:cs typeface="Lato" pitchFamily="34" charset="-120"/>
              </a:rPr>
              <a:t>make it build on Windows</a:t>
            </a:r>
            <a:endParaRPr lang="en-US" sz="1600" dirty="0"/>
          </a:p>
        </p:txBody>
      </p:sp>
      <p:sp>
        <p:nvSpPr>
          <p:cNvPr id="10" name="Text 8"/>
          <p:cNvSpPr/>
          <p:nvPr/>
        </p:nvSpPr>
        <p:spPr>
          <a:xfrm>
            <a:off x="5334000" y="3064616"/>
            <a:ext cx="457200" cy="338349"/>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B5462B"/>
                </a:solidFill>
                <a:latin typeface="JetBrains Mono" pitchFamily="49" charset="0"/>
                <a:ea typeface="JetBrains Mono" pitchFamily="49" charset="-122"/>
                <a:cs typeface="JetBrains Mono" pitchFamily="49" charset="-120"/>
              </a:rPr>
              <a:t>7</a:t>
            </a:r>
            <a:endParaRPr lang="en-US" sz="1600" dirty="0"/>
          </a:p>
        </p:txBody>
      </p:sp>
      <p:sp>
        <p:nvSpPr>
          <p:cNvPr id="11" name="Text 9"/>
          <p:cNvSpPr/>
          <p:nvPr/>
        </p:nvSpPr>
        <p:spPr>
          <a:xfrm>
            <a:off x="5943600" y="3056679"/>
            <a:ext cx="4434205" cy="3383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E1A17"/>
                </a:solidFill>
                <a:latin typeface="Lato" pitchFamily="34" charset="0"/>
                <a:ea typeface="Lato" pitchFamily="34" charset="-122"/>
                <a:cs typeface="Lato" pitchFamily="34" charset="-120"/>
              </a:rPr>
              <a:t>configuration, branding and build fixes</a:t>
            </a:r>
            <a:endParaRPr lang="en-US" sz="1600" dirty="0"/>
          </a:p>
        </p:txBody>
      </p:sp>
      <p:sp>
        <p:nvSpPr>
          <p:cNvPr id="12" name="Text 10"/>
          <p:cNvSpPr/>
          <p:nvPr/>
        </p:nvSpPr>
        <p:spPr>
          <a:xfrm>
            <a:off x="5334000" y="3487102"/>
            <a:ext cx="457200" cy="338349"/>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B5462B"/>
                </a:solidFill>
                <a:latin typeface="JetBrains Mono" pitchFamily="49" charset="0"/>
                <a:ea typeface="JetBrains Mono" pitchFamily="49" charset="-122"/>
                <a:cs typeface="JetBrains Mono" pitchFamily="49" charset="-120"/>
              </a:rPr>
              <a:t>1</a:t>
            </a:r>
            <a:endParaRPr lang="en-US" sz="1600" dirty="0"/>
          </a:p>
        </p:txBody>
      </p:sp>
      <p:sp>
        <p:nvSpPr>
          <p:cNvPr id="13" name="Text 11"/>
          <p:cNvSpPr/>
          <p:nvPr/>
        </p:nvSpPr>
        <p:spPr>
          <a:xfrm>
            <a:off x="5943600" y="3479164"/>
            <a:ext cx="2862326" cy="3383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E1A17"/>
                </a:solidFill>
                <a:latin typeface="Lato" pitchFamily="34" charset="0"/>
                <a:ea typeface="Lato" pitchFamily="34" charset="-122"/>
                <a:cs typeface="Lato" pitchFamily="34" charset="-120"/>
              </a:rPr>
              <a:t>fixes an upstream UI bug</a:t>
            </a:r>
            <a:endParaRPr lang="en-US" sz="1600" dirty="0"/>
          </a:p>
        </p:txBody>
      </p:sp>
      <p:sp>
        <p:nvSpPr>
          <p:cNvPr id="14" name="Shape 12"/>
          <p:cNvSpPr/>
          <p:nvPr/>
        </p:nvSpPr>
        <p:spPr>
          <a:xfrm>
            <a:off x="812800" y="4157027"/>
            <a:ext cx="3420533" cy="1429597"/>
          </a:xfrm>
          <a:prstGeom prst="roundRect">
            <a:avLst>
              <a:gd name="adj" fmla="val 10660"/>
            </a:avLst>
          </a:prstGeom>
          <a:solidFill>
            <a:srgbClr val="FFFFFF"/>
          </a:solidFill>
          <a:ln/>
        </p:spPr>
      </p:sp>
      <p:sp>
        <p:nvSpPr>
          <p:cNvPr id="15" name="Text 13"/>
          <p:cNvSpPr/>
          <p:nvPr/>
        </p:nvSpPr>
        <p:spPr>
          <a:xfrm>
            <a:off x="1066800" y="4360227"/>
            <a:ext cx="2999909" cy="29358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A17"/>
                </a:solidFill>
                <a:latin typeface="Lato" pitchFamily="34" charset="0"/>
                <a:ea typeface="Lato" pitchFamily="34" charset="-122"/>
                <a:cs typeface="Lato" pitchFamily="34" charset="-120"/>
              </a:rPr>
              <a:t>Pinned by SHA</a:t>
            </a:r>
            <a:endParaRPr lang="en-US" sz="1600" dirty="0"/>
          </a:p>
        </p:txBody>
      </p:sp>
      <p:sp>
        <p:nvSpPr>
          <p:cNvPr id="16" name="Text 14"/>
          <p:cNvSpPr/>
          <p:nvPr/>
        </p:nvSpPr>
        <p:spPr>
          <a:xfrm>
            <a:off x="1066800" y="4679209"/>
            <a:ext cx="2999909" cy="72961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54E"/>
                </a:solidFill>
                <a:latin typeface="Lato" pitchFamily="34" charset="0"/>
                <a:ea typeface="Lato" pitchFamily="34" charset="-122"/>
                <a:cs typeface="Lato" pitchFamily="34" charset="-120"/>
              </a:rPr>
              <a:t>Six upstream repositories, each at an exact commit. Bumping a pin is a rebase, done on purpose.</a:t>
            </a:r>
            <a:endParaRPr lang="en-US" sz="1200" dirty="0"/>
          </a:p>
        </p:txBody>
      </p:sp>
      <p:sp>
        <p:nvSpPr>
          <p:cNvPr id="17" name="Shape 15"/>
          <p:cNvSpPr/>
          <p:nvPr/>
        </p:nvSpPr>
        <p:spPr>
          <a:xfrm>
            <a:off x="4385733" y="4157027"/>
            <a:ext cx="3420533" cy="1429597"/>
          </a:xfrm>
          <a:prstGeom prst="roundRect">
            <a:avLst>
              <a:gd name="adj" fmla="val 10660"/>
            </a:avLst>
          </a:prstGeom>
          <a:solidFill>
            <a:srgbClr val="FFFFFF"/>
          </a:solidFill>
          <a:ln/>
        </p:spPr>
      </p:sp>
      <p:sp>
        <p:nvSpPr>
          <p:cNvPr id="18" name="Text 16"/>
          <p:cNvSpPr/>
          <p:nvPr/>
        </p:nvSpPr>
        <p:spPr>
          <a:xfrm>
            <a:off x="4639733" y="4360227"/>
            <a:ext cx="2999909" cy="29358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A17"/>
                </a:solidFill>
                <a:latin typeface="Lato" pitchFamily="34" charset="0"/>
                <a:ea typeface="Lato" pitchFamily="34" charset="-122"/>
                <a:cs typeface="Lato" pitchFamily="34" charset="-120"/>
              </a:rPr>
              <a:t>Applied with no fuzz</a:t>
            </a:r>
            <a:endParaRPr lang="en-US" sz="1600" dirty="0"/>
          </a:p>
        </p:txBody>
      </p:sp>
      <p:sp>
        <p:nvSpPr>
          <p:cNvPr id="19" name="Text 17"/>
          <p:cNvSpPr/>
          <p:nvPr/>
        </p:nvSpPr>
        <p:spPr>
          <a:xfrm>
            <a:off x="4639733" y="4679209"/>
            <a:ext cx="2999909" cy="72961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54E"/>
                </a:solidFill>
                <a:latin typeface="Lato" pitchFamily="34" charset="0"/>
                <a:ea typeface="Lato" pitchFamily="34" charset="-122"/>
                <a:cs typeface="Lato" pitchFamily="34" charset="-120"/>
              </a:rPr>
              <a:t>The queue applies with git am. A patch that stops applying is news, never something to force.</a:t>
            </a:r>
            <a:endParaRPr lang="en-US" sz="1200" dirty="0"/>
          </a:p>
        </p:txBody>
      </p:sp>
      <p:sp>
        <p:nvSpPr>
          <p:cNvPr id="20" name="Shape 18"/>
          <p:cNvSpPr/>
          <p:nvPr/>
        </p:nvSpPr>
        <p:spPr>
          <a:xfrm>
            <a:off x="7958667" y="4157027"/>
            <a:ext cx="3420533" cy="1429597"/>
          </a:xfrm>
          <a:prstGeom prst="roundRect">
            <a:avLst>
              <a:gd name="adj" fmla="val 10660"/>
            </a:avLst>
          </a:prstGeom>
          <a:solidFill>
            <a:srgbClr val="FFFFFF"/>
          </a:solidFill>
          <a:ln/>
        </p:spPr>
      </p:sp>
      <p:sp>
        <p:nvSpPr>
          <p:cNvPr id="21" name="Text 19"/>
          <p:cNvSpPr/>
          <p:nvPr/>
        </p:nvSpPr>
        <p:spPr>
          <a:xfrm>
            <a:off x="8212667" y="4360227"/>
            <a:ext cx="2999909" cy="29358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A17"/>
                </a:solidFill>
                <a:latin typeface="Lato" pitchFamily="34" charset="0"/>
                <a:ea typeface="Lato" pitchFamily="34" charset="-122"/>
                <a:cs typeface="Lato" pitchFamily="34" charset="-120"/>
              </a:rPr>
              <a:t>Source for every release</a:t>
            </a:r>
            <a:endParaRPr lang="en-US" sz="1600" dirty="0"/>
          </a:p>
        </p:txBody>
      </p:sp>
      <p:sp>
        <p:nvSpPr>
          <p:cNvPr id="22" name="Text 20"/>
          <p:cNvSpPr/>
          <p:nvPr/>
        </p:nvSpPr>
        <p:spPr>
          <a:xfrm>
            <a:off x="8212667" y="4679209"/>
            <a:ext cx="2999909" cy="72961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54E"/>
                </a:solidFill>
                <a:latin typeface="Lato" pitchFamily="34" charset="0"/>
                <a:ea typeface="Lato" pitchFamily="34" charset="-122"/>
                <a:cs typeface="Lato" pitchFamily="34" charset="-120"/>
              </a:rPr>
              <a:t>The manifest records each upstream revision and our own commit: AGPL source is a commit plus a patch series.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A17"/>
        </a:solidFill>
      </p:bgPr>
    </p:bg>
    <p:spTree>
      <p:nvGrpSpPr>
        <p:cNvPr id="1" name=""/>
        <p:cNvGrpSpPr/>
        <p:nvPr/>
      </p:nvGrpSpPr>
      <p:grpSpPr>
        <a:xfrm>
          <a:off x="0" y="0"/>
          <a:ext cx="0" cy="0"/>
          <a:chOff x="0" y="0"/>
          <a:chExt cx="0" cy="0"/>
        </a:xfrm>
      </p:grpSpPr>
      <p:sp>
        <p:nvSpPr>
          <p:cNvPr id="2" name="Text 0"/>
          <p:cNvSpPr/>
          <p:nvPr/>
        </p:nvSpPr>
        <p:spPr>
          <a:xfrm>
            <a:off x="812800" y="812800"/>
            <a:ext cx="10883392" cy="260138"/>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8A6E"/>
                </a:solidFill>
                <a:latin typeface="Lato" pitchFamily="34" charset="0"/>
                <a:ea typeface="Lato" pitchFamily="34" charset="-122"/>
                <a:cs typeface="Lato" pitchFamily="34" charset="-120"/>
              </a:rPr>
              <a:t>TAKE PART</a:t>
            </a:r>
            <a:endParaRPr lang="en-US" sz="1200" dirty="0"/>
          </a:p>
        </p:txBody>
      </p:sp>
      <p:sp>
        <p:nvSpPr>
          <p:cNvPr id="3" name="Text 1"/>
          <p:cNvSpPr/>
          <p:nvPr>
            <p:ph type="title"/>
          </p:nvPr>
        </p:nvSpPr>
        <p:spPr>
          <a:xfrm>
            <a:off x="812800" y="1250739"/>
            <a:ext cx="10883392" cy="57859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1E9"/>
                </a:solidFill>
                <a:latin typeface="Lato" pitchFamily="34" charset="0"/>
                <a:ea typeface="Lato" pitchFamily="34" charset="-122"/>
                <a:cs typeface="Lato" pitchFamily="34" charset="-120"/>
              </a:rPr>
              <a:t>Read it, run it, break it</a:t>
            </a:r>
            <a:endParaRPr lang="en-US" sz="3600" dirty="0"/>
          </a:p>
        </p:txBody>
      </p:sp>
      <p:sp>
        <p:nvSpPr>
          <p:cNvPr id="4" name="Text 2"/>
          <p:cNvSpPr/>
          <p:nvPr/>
        </p:nvSpPr>
        <p:spPr>
          <a:xfrm>
            <a:off x="812800" y="2007130"/>
            <a:ext cx="6017260" cy="29358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1E9"/>
                </a:solidFill>
                <a:latin typeface="Lato" pitchFamily="34" charset="0"/>
                <a:ea typeface="Lato" pitchFamily="34" charset="-122"/>
                <a:cs typeface="Lato" pitchFamily="34" charset="-120"/>
              </a:rPr>
              <a:t>Use it</a:t>
            </a:r>
            <a:endParaRPr lang="en-US" sz="1600" dirty="0"/>
          </a:p>
        </p:txBody>
      </p:sp>
      <p:sp>
        <p:nvSpPr>
          <p:cNvPr id="5" name="Shape 3"/>
          <p:cNvSpPr/>
          <p:nvPr/>
        </p:nvSpPr>
        <p:spPr>
          <a:xfrm>
            <a:off x="812800" y="2376912"/>
            <a:ext cx="5842000" cy="833120"/>
          </a:xfrm>
          <a:prstGeom prst="roundRect">
            <a:avLst>
              <a:gd name="adj" fmla="val 12195"/>
            </a:avLst>
          </a:prstGeom>
          <a:solidFill>
            <a:srgbClr val="2E2925"/>
          </a:solidFill>
          <a:ln/>
        </p:spPr>
      </p:sp>
      <p:sp>
        <p:nvSpPr>
          <p:cNvPr id="6" name="Text 4"/>
          <p:cNvSpPr/>
          <p:nvPr/>
        </p:nvSpPr>
        <p:spPr>
          <a:xfrm>
            <a:off x="1016000" y="2529312"/>
            <a:ext cx="5598668" cy="27686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6F1E9"/>
                </a:solidFill>
                <a:latin typeface="JetBrains Mono" pitchFamily="49" charset="0"/>
                <a:ea typeface="JetBrains Mono" pitchFamily="49" charset="-122"/>
                <a:cs typeface="JetBrains Mono" pitchFamily="49" charset="-120"/>
              </a:rPr>
              <a:t>uv tool install libera</a:t>
            </a:r>
            <a:endParaRPr lang="en-US" sz="1200" dirty="0"/>
          </a:p>
        </p:txBody>
      </p:sp>
      <p:sp>
        <p:nvSpPr>
          <p:cNvPr id="7" name="Text 5"/>
          <p:cNvSpPr/>
          <p:nvPr/>
        </p:nvSpPr>
        <p:spPr>
          <a:xfrm>
            <a:off x="1016000" y="2806170"/>
            <a:ext cx="5598668" cy="27686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6F1E9"/>
                </a:solidFill>
                <a:latin typeface="JetBrains Mono" pitchFamily="49" charset="0"/>
                <a:ea typeface="JetBrains Mono" pitchFamily="49" charset="-122"/>
                <a:cs typeface="JetBrains Mono" pitchFamily="49" charset="-120"/>
              </a:rPr>
              <a:t>brew install abilian/tap/libera</a:t>
            </a:r>
            <a:endParaRPr lang="en-US" sz="1200" dirty="0"/>
          </a:p>
        </p:txBody>
      </p:sp>
      <p:sp>
        <p:nvSpPr>
          <p:cNvPr id="8" name="Text 6"/>
          <p:cNvSpPr/>
          <p:nvPr/>
        </p:nvSpPr>
        <p:spPr>
          <a:xfrm>
            <a:off x="812800" y="3311630"/>
            <a:ext cx="6017260" cy="29358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1E9"/>
                </a:solidFill>
                <a:latin typeface="Lato" pitchFamily="34" charset="0"/>
                <a:ea typeface="Lato" pitchFamily="34" charset="-122"/>
                <a:cs typeface="Lato" pitchFamily="34" charset="-120"/>
              </a:rPr>
              <a:t>Hack on it</a:t>
            </a:r>
            <a:endParaRPr lang="en-US" sz="1600" dirty="0"/>
          </a:p>
        </p:txBody>
      </p:sp>
      <p:sp>
        <p:nvSpPr>
          <p:cNvPr id="9" name="Shape 7"/>
          <p:cNvSpPr/>
          <p:nvPr/>
        </p:nvSpPr>
        <p:spPr>
          <a:xfrm>
            <a:off x="812800" y="3681413"/>
            <a:ext cx="5842000" cy="1109980"/>
          </a:xfrm>
          <a:prstGeom prst="roundRect">
            <a:avLst>
              <a:gd name="adj" fmla="val 9153"/>
            </a:avLst>
          </a:prstGeom>
          <a:solidFill>
            <a:srgbClr val="2E2925"/>
          </a:solidFill>
          <a:ln/>
        </p:spPr>
      </p:sp>
      <p:sp>
        <p:nvSpPr>
          <p:cNvPr id="10" name="Text 8"/>
          <p:cNvSpPr/>
          <p:nvPr/>
        </p:nvSpPr>
        <p:spPr>
          <a:xfrm>
            <a:off x="1016000" y="3833812"/>
            <a:ext cx="5598668" cy="27686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6F1E9"/>
                </a:solidFill>
                <a:latin typeface="JetBrains Mono" pitchFamily="49" charset="0"/>
                <a:ea typeface="JetBrains Mono" pitchFamily="49" charset="-122"/>
                <a:cs typeface="JetBrains Mono" pitchFamily="49" charset="-120"/>
              </a:rPr>
              <a:t>git clone https://github.com/abilian/libera-suite</a:t>
            </a:r>
            <a:endParaRPr lang="en-US" sz="1200" dirty="0"/>
          </a:p>
        </p:txBody>
      </p:sp>
      <p:sp>
        <p:nvSpPr>
          <p:cNvPr id="11" name="Text 9"/>
          <p:cNvSpPr/>
          <p:nvPr/>
        </p:nvSpPr>
        <p:spPr>
          <a:xfrm>
            <a:off x="1016000" y="4110673"/>
            <a:ext cx="5598668" cy="27686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6F1E9"/>
                </a:solidFill>
                <a:latin typeface="JetBrains Mono" pitchFamily="49" charset="0"/>
                <a:ea typeface="JetBrains Mono" pitchFamily="49" charset="-122"/>
                <a:cs typeface="JetBrains Mono" pitchFamily="49" charset="-120"/>
              </a:rPr>
              <a:t>cd libera-suite &amp;&amp; uv sync</a:t>
            </a:r>
            <a:endParaRPr lang="en-US" sz="1200" dirty="0"/>
          </a:p>
        </p:txBody>
      </p:sp>
      <p:sp>
        <p:nvSpPr>
          <p:cNvPr id="12" name="Text 10"/>
          <p:cNvSpPr/>
          <p:nvPr/>
        </p:nvSpPr>
        <p:spPr>
          <a:xfrm>
            <a:off x="1016000" y="4387534"/>
            <a:ext cx="5598668" cy="27686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6F1E9"/>
                </a:solidFill>
                <a:latin typeface="JetBrains Mono" pitchFamily="49" charset="0"/>
                <a:ea typeface="JetBrains Mono" pitchFamily="49" charset="-122"/>
                <a:cs typeface="JetBrains Mono" pitchFamily="49" charset="-120"/>
              </a:rPr>
              <a:t>make test</a:t>
            </a:r>
            <a:endParaRPr lang="en-US" sz="1200" dirty="0"/>
          </a:p>
        </p:txBody>
      </p:sp>
      <p:sp>
        <p:nvSpPr>
          <p:cNvPr id="13" name="Text 11"/>
          <p:cNvSpPr/>
          <p:nvPr/>
        </p:nvSpPr>
        <p:spPr>
          <a:xfrm>
            <a:off x="812800" y="4892991"/>
            <a:ext cx="6017260" cy="49487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6BA"/>
                </a:solidFill>
                <a:latin typeface="Lato" pitchFamily="34" charset="0"/>
                <a:ea typeface="Lato" pitchFamily="34" charset="-122"/>
                <a:cs typeface="Lato" pitchFamily="34" charset="-120"/>
              </a:rPr>
              <a:t>330 tests in three tiers, the last driving the real editor in headless Chromium. Host under Apache-2.0, editors under AGPL v3.</a:t>
            </a:r>
            <a:endParaRPr lang="en-US" sz="1200" dirty="0"/>
          </a:p>
        </p:txBody>
      </p:sp>
      <p:sp>
        <p:nvSpPr>
          <p:cNvPr id="14" name="Text 12"/>
          <p:cNvSpPr/>
          <p:nvPr/>
        </p:nvSpPr>
        <p:spPr>
          <a:xfrm>
            <a:off x="7061200" y="2007130"/>
            <a:ext cx="4447540" cy="29358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1E9"/>
                </a:solidFill>
                <a:latin typeface="Lato" pitchFamily="34" charset="0"/>
                <a:ea typeface="Lato" pitchFamily="34" charset="-122"/>
                <a:cs typeface="Lato" pitchFamily="34" charset="-120"/>
              </a:rPr>
              <a:t>How can I help?</a:t>
            </a:r>
            <a:endParaRPr lang="en-US" sz="1600" dirty="0"/>
          </a:p>
        </p:txBody>
      </p:sp>
      <p:sp>
        <p:nvSpPr>
          <p:cNvPr id="15" name="Text 13"/>
          <p:cNvSpPr/>
          <p:nvPr/>
        </p:nvSpPr>
        <p:spPr>
          <a:xfrm>
            <a:off x="7133082" y="2376912"/>
            <a:ext cx="4368038" cy="1668145"/>
          </a:xfrm>
          <a:prstGeom prst="rect">
            <a:avLst/>
          </a:prstGeom>
          <a:noFill/>
          <a:ln/>
        </p:spPr>
        <p:txBody>
          <a:bodyPr wrap="square" lIns="0" tIns="0" rIns="0" bIns="0" rtlCol="0" anchor="t">
            <a:normAutofit/>
          </a:bodyPr>
          <a:lstStyle/>
          <a:p>
            <a:pPr algn="l" marL="182118" indent="-182118">
              <a:lnSpc>
                <a:spcPts val="1960"/>
              </a:lnSpc>
              <a:buSzPct val="100000"/>
              <a:buChar char="•"/>
            </a:pPr>
            <a:r>
              <a:rPr lang="en-US" sz="1400" dirty="0">
                <a:solidFill>
                  <a:srgbClr val="CFC6BA"/>
                </a:solidFill>
                <a:latin typeface="Lato" pitchFamily="34" charset="0"/>
                <a:ea typeface="Lato" pitchFamily="34" charset="-122"/>
                <a:cs typeface="Lato" pitchFamily="34" charset="-120"/>
              </a:rPr>
              <a:t>A document that renders wrong, ODF especially</a:t>
            </a:r>
            <a:endParaRPr lang="en-US" sz="1400" dirty="0"/>
          </a:p>
          <a:p>
            <a:pPr algn="l" marL="182118" indent="-182118">
              <a:lnSpc>
                <a:spcPts val="1960"/>
              </a:lnSpc>
              <a:buSzPct val="100000"/>
              <a:buChar char="•"/>
            </a:pPr>
            <a:r>
              <a:rPr lang="en-US" sz="1400" dirty="0">
                <a:solidFill>
                  <a:srgbClr val="CFC6BA"/>
                </a:solidFill>
                <a:latin typeface="Lato" pitchFamily="34" charset="0"/>
                <a:ea typeface="Lato" pitchFamily="34" charset="-122"/>
                <a:cs typeface="Lato" pitchFamily="34" charset="-120"/>
              </a:rPr>
              <a:t>Flathub, and a one-click .flatpakref</a:t>
            </a:r>
            <a:endParaRPr lang="en-US" sz="1400" dirty="0"/>
          </a:p>
          <a:p>
            <a:pPr algn="l" marL="182118" indent="-182118">
              <a:lnSpc>
                <a:spcPts val="1960"/>
              </a:lnSpc>
              <a:buSzPct val="100000"/>
              <a:buChar char="•"/>
            </a:pPr>
            <a:r>
              <a:rPr lang="en-US" sz="1400" dirty="0">
                <a:solidFill>
                  <a:srgbClr val="CFC6BA"/>
                </a:solidFill>
                <a:latin typeface="Lato" pitchFamily="34" charset="0"/>
                <a:ea typeface="Lato" pitchFamily="34" charset="-122"/>
                <a:cs typeface="Lato" pitchFamily="34" charset="-120"/>
              </a:rPr>
              <a:t>Windows: code signing, a native ARM64 build</a:t>
            </a:r>
            <a:endParaRPr lang="en-US" sz="1400" dirty="0"/>
          </a:p>
          <a:p>
            <a:pPr algn="l" marL="182118" indent="-182118">
              <a:lnSpc>
                <a:spcPts val="1960"/>
              </a:lnSpc>
              <a:buSzPct val="100000"/>
              <a:buChar char="•"/>
            </a:pPr>
            <a:r>
              <a:rPr lang="en-US" sz="1400" dirty="0">
                <a:solidFill>
                  <a:srgbClr val="CFC6BA"/>
                </a:solidFill>
                <a:latin typeface="Lato" pitchFamily="34" charset="0"/>
                <a:ea typeface="Lato" pitchFamily="34" charset="-122"/>
                <a:cs typeface="Lato" pitchFamily="34" charset="-120"/>
              </a:rPr>
              <a:t>Keyboard shortcuts in the GTK and Windows menus</a:t>
            </a:r>
            <a:endParaRPr lang="en-US" sz="1400" dirty="0"/>
          </a:p>
        </p:txBody>
      </p:sp>
      <p:sp>
        <p:nvSpPr>
          <p:cNvPr id="16" name="Text 14"/>
          <p:cNvSpPr/>
          <p:nvPr/>
        </p:nvSpPr>
        <p:spPr>
          <a:xfrm>
            <a:off x="7061200" y="4121255"/>
            <a:ext cx="4447540" cy="29919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1E9"/>
                </a:solidFill>
                <a:latin typeface="Lato" pitchFamily="34" charset="0"/>
                <a:ea typeface="Lato" pitchFamily="34" charset="-122"/>
                <a:cs typeface="Lato" pitchFamily="34" charset="-120"/>
              </a:rPr>
              <a:t>Issues: </a:t>
            </a:r>
            <a:r>
              <a:rPr lang="en-US" sz="1400" u="sng" dirty="0">
                <a:solidFill>
                  <a:srgbClr val="F6F1E9"/>
                </a:solidFill>
                <a:latin typeface="Lato" pitchFamily="34" charset="0"/>
                <a:ea typeface="Lato" pitchFamily="34" charset="-122"/>
                <a:cs typeface="La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github.com/abilian/libera-suite</a:t>
            </a:r>
            <a:endParaRPr lang="en-US" sz="1400" dirty="0"/>
          </a:p>
        </p:txBody>
      </p:sp>
      <p:sp>
        <p:nvSpPr>
          <p:cNvPr id="17" name="Text 15"/>
          <p:cNvSpPr/>
          <p:nvPr/>
        </p:nvSpPr>
        <p:spPr>
          <a:xfrm>
            <a:off x="7061200" y="4496646"/>
            <a:ext cx="4447540" cy="29919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1E9"/>
                </a:solidFill>
                <a:latin typeface="Lato" pitchFamily="34" charset="0"/>
                <a:ea typeface="Lato" pitchFamily="34" charset="-122"/>
                <a:cs typeface="Lato" pitchFamily="34" charset="-120"/>
              </a:rPr>
              <a:t>Docs: </a:t>
            </a:r>
            <a:r>
              <a:rPr lang="en-US" sz="1400" u="sng" dirty="0">
                <a:solidFill>
                  <a:srgbClr val="F6F1E9"/>
                </a:solidFill>
                <a:latin typeface="Lato" pitchFamily="34" charset="0"/>
                <a:ea typeface="Lato" pitchFamily="34" charset="-122"/>
                <a:cs typeface="La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docs.liberasuite.eu/en/develop</a:t>
            </a:r>
            <a:endParaRPr lang="en-US" sz="1400" dirty="0"/>
          </a:p>
        </p:txBody>
      </p:sp>
      <p:sp>
        <p:nvSpPr>
          <p:cNvPr id="18" name="Text 16"/>
          <p:cNvSpPr/>
          <p:nvPr/>
        </p:nvSpPr>
        <p:spPr>
          <a:xfrm>
            <a:off x="812800" y="5973446"/>
            <a:ext cx="10883392" cy="49487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9E94"/>
                </a:solidFill>
                <a:latin typeface="Lato" pitchFamily="34" charset="0"/>
                <a:ea typeface="Lato" pitchFamily="34" charset="-122"/>
                <a:cs typeface="Lato" pitchFamily="34" charset="-120"/>
              </a:rPr>
              <a:t>Libera Suite includes components from Euro-Office, a fork of ONLYOFFICE (developed by Ascensio System SIA). ONLYOFFICE is a trademark of Ascensio System SIA. Other names are trademarks of their respective owners.</a:t>
            </a:r>
            <a:endParaRPr lang="en-US" sz="1200" dirty="0"/>
          </a:p>
        </p:txBody>
      </p:sp>
    </p:spTree>
  </p:cSld>
  <p:clrMapOvr>
    <a:masterClrMapping/>
  </p:clrMapOvr>
</p:sld>
</file>

<file path=ppt/theme/theme1.xml><?xml version="1.0" encoding="utf-8"?>
<a:theme xmlns:a="http://schemas.openxmlformats.org/drawingml/2006/main" name="Libera Suite for developers">
  <a:themeElements>
    <a:clrScheme name="Libera Suite for developers">
      <a:dk1>
        <a:srgbClr val="1E1A17"/>
      </a:dk1>
      <a:lt1>
        <a:srgbClr val="F6F1E9"/>
      </a:lt1>
      <a:dk2>
        <a:srgbClr val="54504C"/>
      </a:dk2>
      <a:lt2>
        <a:srgbClr val="E0DCD4"/>
      </a:lt2>
      <a:accent1>
        <a:srgbClr val="B5462B"/>
      </a:accent1>
      <a:accent2>
        <a:srgbClr val="E08A6E"/>
      </a:accent2>
      <a:accent3>
        <a:srgbClr val="5E554E"/>
      </a:accent3>
      <a:accent4>
        <a:srgbClr val="CFC6BA"/>
      </a:accent4>
      <a:accent5>
        <a:srgbClr val="A89E94"/>
      </a:accent5>
      <a:accent6>
        <a:srgbClr val="9AA0A6"/>
      </a:accent6>
      <a:hlink>
        <a:srgbClr val="0563C1"/>
      </a:hlink>
      <a:folHlink>
        <a:srgbClr val="954F72"/>
      </a:folHlink>
    </a:clrScheme>
    <a:fontScheme name="Libera Suite for developers">
      <a:majorFont>
        <a:latin typeface="La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a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Libera Suite for developers</dc:title>
  <dc:subject/>
  <dc:creator/>
  <cp:lastModifiedBy/>
  <cp:revision>1</cp:revision>
  <dcterms:created xsi:type="dcterms:W3CDTF">2026-10-01T12:08:50Z</dcterms:created>
  <dcterms:modified xsi:type="dcterms:W3CDTF">2026-10-01T12:08:50Z</dcterms:modified>
</cp:coreProperties>
</file>