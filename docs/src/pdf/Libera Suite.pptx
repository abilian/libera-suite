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Libera Suite: a free and open source office suite for writing documents, working on spreadsheets and making presentations. It runs on your own computer, on Windows, macOS or Linux. It costs nothing, and there is no account to create. The line to remember is the one in terracotta: your documents, on your own machine. Everything in the next five slides comes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what it takes today to write a report on a computer. Very often: an account to create first. Then a price. Either a subscription that runs every month for as long as you keep writing, or a service that costs nothing because, as the saying goes, you are the product, and you pay with your data. And your own files, stored on servers run by somebody else. Many people and many small organisations would rather not. What keeps them is one simple thing: everybody sends Word files, and the software they use has to open them properly. That is the problem Libera Suite sets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Libera Suite is what you expect of an office suite. Libera Words for letters, reports and any other document. Libera Tables for budgets, lists and figures. Libera Slides for presentations. Libera Diagrams opens Visio drawings so you can look at them. Around them, the everyday things: spell checking in five languages, export to PDF, printing, your recent documents, and if the computer stops in the middle of your work, Libera Suite offers it back the next time you open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reason people stay: everybody sends Word files. Libera Suite opens them, and lays them out the way the person who wrote them saw them, with the fonts, the images, the tables and the tracked changes. When you save, you get the same format back, so your colleague opens your reply in Word without noticing anything. The same goes for Excel and PowerPoint files, and for the LibreOffice formats. This is the slide that answers "but can I actually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promises. It is free: no licence fee, no monthly bill, and you can install it on as many computers as you like. There is no account: you open it and start typing. It is private: no telemetry, no analytics, nothing about you or your documents is sent to us, and your documents are read and written on your own disk. And it is yours to keep: it is free and open source software, made by Abilian, a French company, so no server has to stay paid for it to keep working and nobody can switch it off from a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Libera Suite is available today as a beta, for Windows 10 and 11, for Macs with Apple Silicon, and for Linux. Download now takes you to the install page, and installing takes a minute. Everything else is on docs.liberasuite.eu. Because it is a beta, we publish the list of what is not finished yet, so there are no surprises. And if a document you open comes out wrong, please send it to us: that is the single most useful thing anyone can do for the project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1E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1538"/>
            <a:ext cx="10566400" cy="553191"/>
          </a:xfrm>
          <a:prstGeom prst="rect">
            <a:avLst/>
          </a:prstGeom>
          <a:noFill/>
          <a:ln/>
        </p:spPr>
        <p:txBody>
          <a:bodyPr wrap="square" lIns="0" tIns="0" rIns="0" bIns="0" rtlCol="0" anchor="t"/>
          <a:lstStyle>
            <a:lvl1pPr algn="l" indent="0" marL="0">
              <a:lnSpc>
                <a:spcPct val="115000"/>
              </a:lnSpc>
              <a:buNone/>
              <a:defRPr lang="en-US" sz="3600" dirty="0">
                <a:solidFill>
                  <a:srgbClr val="1E1A17"/>
                </a:solidFill>
                <a:latin typeface="Lato" pitchFamily="34" charset="0"/>
                <a:ea typeface="Lato" pitchFamily="34" charset="-122"/>
                <a:cs typeface="La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59529"/>
            <a:ext cx="10566400" cy="3885671"/>
          </a:xfrm>
          <a:prstGeom prst="rect">
            <a:avLst/>
          </a:prstGeom>
          <a:noFill/>
          <a:ln/>
        </p:spPr>
        <p:txBody>
          <a:bodyPr wrap="square" lIns="0" tIns="0" rIns="0" bIns="0" rtlCol="0" anchor="t"/>
          <a:lstStyle>
            <a:lvl1pPr algn="l" indent="0" marL="0">
              <a:lnSpc>
                <a:spcPct val="140000"/>
              </a:lnSpc>
              <a:buNone/>
              <a:defRPr lang="en-US" sz="1600" dirty="0">
                <a:solidFill>
                  <a:srgbClr val="5E554E"/>
                </a:solidFill>
                <a:latin typeface="Lato" pitchFamily="34" charset="0"/>
                <a:ea typeface="Lato" pitchFamily="34" charset="-122"/>
                <a:cs typeface="La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1E9"/>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liberasuite.eu/en/main/install/" TargetMode="External"/><Relationship Id="rId2" Type="http://schemas.openxmlformats.org/officeDocument/2006/relationships/hyperlink" Target="https://docs.liberasuite.eu/" TargetMode="Externa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9"/>
        </a:solidFill>
      </p:bgPr>
    </p:bg>
    <p:spTree>
      <p:nvGrpSpPr>
        <p:cNvPr id="1" name=""/>
        <p:cNvGrpSpPr/>
        <p:nvPr/>
      </p:nvGrpSpPr>
      <p:grpSpPr>
        <a:xfrm>
          <a:off x="0" y="0"/>
          <a:ext cx="0" cy="0"/>
          <a:chOff x="0" y="0"/>
          <a:chExt cx="0" cy="0"/>
        </a:xfrm>
      </p:grpSpPr>
      <p:pic>
        <p:nvPicPr>
          <p:cNvPr id="2" name="Image 0" descr="Libera Suite">    </p:cNvPr>
          <p:cNvPicPr>
            <a:picLocks noChangeAspect="1"/>
          </p:cNvPicPr>
          <p:nvPr/>
        </p:nvPicPr>
        <p:blipFill>
          <a:blip r:embed="rId1"/>
          <a:srcRect l="0" r="0" t="0" b="0"/>
          <a:stretch/>
        </p:blipFill>
        <p:spPr>
          <a:xfrm>
            <a:off x="812800" y="1298681"/>
            <a:ext cx="4826000" cy="1295400"/>
          </a:xfrm>
          <a:prstGeom prst="rect">
            <a:avLst/>
          </a:prstGeom>
        </p:spPr>
      </p:pic>
      <p:sp>
        <p:nvSpPr>
          <p:cNvPr id="3" name="Text 0"/>
          <p:cNvSpPr/>
          <p:nvPr/>
        </p:nvSpPr>
        <p:spPr>
          <a:xfrm>
            <a:off x="812800" y="2898881"/>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5462B"/>
                </a:solidFill>
                <a:latin typeface="Lato" pitchFamily="34" charset="0"/>
                <a:ea typeface="Lato" pitchFamily="34" charset="-122"/>
                <a:cs typeface="Lato" pitchFamily="34" charset="-120"/>
              </a:rPr>
              <a:t>Your documents, on your own machine.</a:t>
            </a:r>
            <a:endParaRPr lang="en-US" sz="3600" dirty="0"/>
          </a:p>
        </p:txBody>
      </p:sp>
      <p:sp>
        <p:nvSpPr>
          <p:cNvPr id="4" name="Text 1"/>
          <p:cNvSpPr/>
          <p:nvPr/>
        </p:nvSpPr>
        <p:spPr>
          <a:xfrm>
            <a:off x="812800" y="3756871"/>
            <a:ext cx="7848600" cy="9642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A free and open source desktop office suite for Windows, macOS and Linux. Write, calculate and present on your own computer, with no account and no subscription.</a:t>
            </a:r>
            <a:endParaRPr lang="en-US" sz="1600" dirty="0"/>
          </a:p>
        </p:txBody>
      </p:sp>
      <p:pic>
        <p:nvPicPr>
          <p:cNvPr id="5" name="Image 1" descr="Libera Words">    </p:cNvPr>
          <p:cNvPicPr>
            <a:picLocks noChangeAspect="1"/>
          </p:cNvPicPr>
          <p:nvPr/>
        </p:nvPicPr>
        <p:blipFill>
          <a:blip r:embed="rId2"/>
          <a:srcRect l="0" r="0" t="0" b="0"/>
          <a:stretch/>
        </p:blipFill>
        <p:spPr>
          <a:xfrm>
            <a:off x="812800" y="5000519"/>
            <a:ext cx="996950" cy="355600"/>
          </a:xfrm>
          <a:prstGeom prst="rect">
            <a:avLst/>
          </a:prstGeom>
        </p:spPr>
      </p:pic>
      <p:pic>
        <p:nvPicPr>
          <p:cNvPr id="6" name="Image 2" descr="Libera Tables">    </p:cNvPr>
          <p:cNvPicPr>
            <a:picLocks noChangeAspect="1"/>
          </p:cNvPicPr>
          <p:nvPr/>
        </p:nvPicPr>
        <p:blipFill>
          <a:blip r:embed="rId3"/>
          <a:srcRect l="0" r="0" t="0" b="0"/>
          <a:stretch/>
        </p:blipFill>
        <p:spPr>
          <a:xfrm>
            <a:off x="2216150" y="5000519"/>
            <a:ext cx="977900" cy="355600"/>
          </a:xfrm>
          <a:prstGeom prst="rect">
            <a:avLst/>
          </a:prstGeom>
        </p:spPr>
      </p:pic>
      <p:pic>
        <p:nvPicPr>
          <p:cNvPr id="7" name="Image 3" descr="Libera Slides">    </p:cNvPr>
          <p:cNvPicPr>
            <a:picLocks noChangeAspect="1"/>
          </p:cNvPicPr>
          <p:nvPr/>
        </p:nvPicPr>
        <p:blipFill>
          <a:blip r:embed="rId4"/>
          <a:srcRect l="0" r="0" t="0" b="0"/>
          <a:stretch/>
        </p:blipFill>
        <p:spPr>
          <a:xfrm>
            <a:off x="3600450" y="5000519"/>
            <a:ext cx="933450" cy="355600"/>
          </a:xfrm>
          <a:prstGeom prst="rect">
            <a:avLst/>
          </a:prstGeom>
        </p:spPr>
      </p:pic>
      <p:sp>
        <p:nvSpPr>
          <p:cNvPr id="8" name="Text 2"/>
          <p:cNvSpPr/>
          <p:nvPr/>
        </p:nvSpPr>
        <p:spPr>
          <a:xfrm>
            <a:off x="812800" y="6216862"/>
            <a:ext cx="10883392"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Abilian · Beta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A17"/>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8A6E"/>
                </a:solidFill>
                <a:latin typeface="Lato" pitchFamily="34" charset="0"/>
                <a:ea typeface="Lato" pitchFamily="34" charset="-122"/>
                <a:cs typeface="Lato" pitchFamily="34" charset="-120"/>
              </a:rPr>
              <a:t>TODAY</a:t>
            </a:r>
            <a:endParaRPr lang="en-US" sz="1200" dirty="0"/>
          </a:p>
        </p:txBody>
      </p:sp>
      <p:sp>
        <p:nvSpPr>
          <p:cNvPr id="3" name="Text 1"/>
          <p:cNvSpPr/>
          <p:nvPr>
            <p:ph type="title"/>
          </p:nvPr>
        </p:nvSpPr>
        <p:spPr>
          <a:xfrm>
            <a:off x="812800" y="1352338"/>
            <a:ext cx="9156700" cy="113178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1E9"/>
                </a:solidFill>
                <a:latin typeface="Lato" pitchFamily="34" charset="0"/>
                <a:ea typeface="Lato" pitchFamily="34" charset="-122"/>
                <a:cs typeface="Lato" pitchFamily="34" charset="-120"/>
              </a:rPr>
              <a:t>Writing a report now comes with strings attached</a:t>
            </a:r>
            <a:endParaRPr lang="en-US" sz="3600" dirty="0"/>
          </a:p>
        </p:txBody>
      </p:sp>
      <p:sp>
        <p:nvSpPr>
          <p:cNvPr id="4" name="Shape 2"/>
          <p:cNvSpPr/>
          <p:nvPr/>
        </p:nvSpPr>
        <p:spPr>
          <a:xfrm>
            <a:off x="812800" y="2763520"/>
            <a:ext cx="3386667" cy="2049357"/>
          </a:xfrm>
          <a:prstGeom prst="roundRect">
            <a:avLst>
              <a:gd name="adj" fmla="val 7436"/>
            </a:avLst>
          </a:prstGeom>
          <a:solidFill>
            <a:srgbClr val="2E2925"/>
          </a:solidFill>
          <a:ln/>
        </p:spPr>
      </p:sp>
      <p:sp>
        <p:nvSpPr>
          <p:cNvPr id="5" name="Text 3"/>
          <p:cNvSpPr/>
          <p:nvPr/>
        </p:nvSpPr>
        <p:spPr>
          <a:xfrm>
            <a:off x="1117600" y="3068320"/>
            <a:ext cx="2860379"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1E9"/>
                </a:solidFill>
                <a:latin typeface="Lato" pitchFamily="34" charset="0"/>
                <a:ea typeface="Lato" pitchFamily="34" charset="-122"/>
                <a:cs typeface="Lato" pitchFamily="34" charset="-120"/>
              </a:rPr>
              <a:t>An account</a:t>
            </a:r>
            <a:endParaRPr lang="en-US" sz="2200" dirty="0"/>
          </a:p>
        </p:txBody>
      </p:sp>
      <p:sp>
        <p:nvSpPr>
          <p:cNvPr id="6" name="Text 4"/>
          <p:cNvSpPr/>
          <p:nvPr/>
        </p:nvSpPr>
        <p:spPr>
          <a:xfrm>
            <a:off x="1117600" y="3513349"/>
            <a:ext cx="2860379"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to create before you can type a word</a:t>
            </a:r>
            <a:endParaRPr lang="en-US" sz="1600" dirty="0"/>
          </a:p>
        </p:txBody>
      </p:sp>
      <p:sp>
        <p:nvSpPr>
          <p:cNvPr id="7" name="Shape 5"/>
          <p:cNvSpPr/>
          <p:nvPr/>
        </p:nvSpPr>
        <p:spPr>
          <a:xfrm>
            <a:off x="4402667" y="2763520"/>
            <a:ext cx="3386667" cy="2049357"/>
          </a:xfrm>
          <a:prstGeom prst="roundRect">
            <a:avLst>
              <a:gd name="adj" fmla="val 7436"/>
            </a:avLst>
          </a:prstGeom>
          <a:solidFill>
            <a:srgbClr val="2E2925"/>
          </a:solidFill>
          <a:ln/>
        </p:spPr>
      </p:sp>
      <p:sp>
        <p:nvSpPr>
          <p:cNvPr id="8" name="Text 6"/>
          <p:cNvSpPr/>
          <p:nvPr/>
        </p:nvSpPr>
        <p:spPr>
          <a:xfrm>
            <a:off x="4707467" y="3068320"/>
            <a:ext cx="2860379"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1E9"/>
                </a:solidFill>
                <a:latin typeface="Lato" pitchFamily="34" charset="0"/>
                <a:ea typeface="Lato" pitchFamily="34" charset="-122"/>
                <a:cs typeface="Lato" pitchFamily="34" charset="-120"/>
              </a:rPr>
              <a:t>A price to pay</a:t>
            </a:r>
            <a:endParaRPr lang="en-US" sz="2200" dirty="0"/>
          </a:p>
        </p:txBody>
      </p:sp>
      <p:sp>
        <p:nvSpPr>
          <p:cNvPr id="9" name="Text 7"/>
          <p:cNvSpPr/>
          <p:nvPr/>
        </p:nvSpPr>
        <p:spPr>
          <a:xfrm>
            <a:off x="4707467" y="3513349"/>
            <a:ext cx="2860379"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a monthly fee, or your data if it's free</a:t>
            </a:r>
            <a:endParaRPr lang="en-US" sz="1600" dirty="0"/>
          </a:p>
        </p:txBody>
      </p:sp>
      <p:sp>
        <p:nvSpPr>
          <p:cNvPr id="10" name="Shape 8"/>
          <p:cNvSpPr/>
          <p:nvPr/>
        </p:nvSpPr>
        <p:spPr>
          <a:xfrm>
            <a:off x="7992533" y="2763520"/>
            <a:ext cx="3386667" cy="2049357"/>
          </a:xfrm>
          <a:prstGeom prst="roundRect">
            <a:avLst>
              <a:gd name="adj" fmla="val 7436"/>
            </a:avLst>
          </a:prstGeom>
          <a:solidFill>
            <a:srgbClr val="2E2925"/>
          </a:solidFill>
          <a:ln/>
        </p:spPr>
      </p:sp>
      <p:sp>
        <p:nvSpPr>
          <p:cNvPr id="11" name="Text 9"/>
          <p:cNvSpPr/>
          <p:nvPr/>
        </p:nvSpPr>
        <p:spPr>
          <a:xfrm>
            <a:off x="8297333" y="3068320"/>
            <a:ext cx="2860379" cy="76305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1E9"/>
                </a:solidFill>
                <a:latin typeface="Lato" pitchFamily="34" charset="0"/>
                <a:ea typeface="Lato" pitchFamily="34" charset="-122"/>
                <a:cs typeface="Lato" pitchFamily="34" charset="-120"/>
              </a:rPr>
              <a:t>Someone else's cloud</a:t>
            </a:r>
            <a:endParaRPr lang="en-US" sz="2200" dirty="0"/>
          </a:p>
        </p:txBody>
      </p:sp>
      <p:sp>
        <p:nvSpPr>
          <p:cNvPr id="12" name="Text 10"/>
          <p:cNvSpPr/>
          <p:nvPr/>
        </p:nvSpPr>
        <p:spPr>
          <a:xfrm>
            <a:off x="8297333" y="3882179"/>
            <a:ext cx="2860379"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holding your files on their servers</a:t>
            </a:r>
            <a:endParaRPr lang="en-US" sz="1600" dirty="0"/>
          </a:p>
        </p:txBody>
      </p:sp>
      <p:sp>
        <p:nvSpPr>
          <p:cNvPr id="13" name="Text 11"/>
          <p:cNvSpPr/>
          <p:nvPr/>
        </p:nvSpPr>
        <p:spPr>
          <a:xfrm>
            <a:off x="812800" y="5117677"/>
            <a:ext cx="9810750" cy="763058"/>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6F1E9"/>
                </a:solidFill>
                <a:latin typeface="Lato" pitchFamily="34" charset="0"/>
                <a:ea typeface="Lato" pitchFamily="34" charset="-122"/>
                <a:cs typeface="Lato" pitchFamily="34" charset="-120"/>
              </a:rPr>
              <a:t>Many people would rather not. What keeps them is simple: everybody sends </a:t>
            </a:r>
            <a:r>
              <a:rPr lang="en-US" sz="2200" dirty="0">
                <a:solidFill>
                  <a:srgbClr val="E08A6E"/>
                </a:solidFill>
                <a:latin typeface="Lato" pitchFamily="34" charset="0"/>
                <a:ea typeface="Lato" pitchFamily="34" charset="-122"/>
                <a:cs typeface="Lato" pitchFamily="34" charset="-120"/>
              </a:rPr>
              <a:t>.docx</a:t>
            </a:r>
            <a:r>
              <a:rPr lang="en-US" sz="2200" dirty="0">
                <a:solidFill>
                  <a:srgbClr val="F6F1E9"/>
                </a:solidFill>
                <a:latin typeface="Lato" pitchFamily="34" charset="0"/>
                <a:ea typeface="Lato" pitchFamily="34" charset="-122"/>
                <a:cs typeface="Lato" pitchFamily="34" charset="-120"/>
              </a:rPr>
              <a: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9"/>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LIBERA SUITE</a:t>
            </a:r>
            <a:endParaRPr lang="en-US" sz="1200" dirty="0"/>
          </a:p>
        </p:txBody>
      </p:sp>
      <p:sp>
        <p:nvSpPr>
          <p:cNvPr id="3" name="Text 1"/>
          <p:cNvSpPr/>
          <p:nvPr>
            <p:ph type="title"/>
          </p:nvPr>
        </p:nvSpPr>
        <p:spPr>
          <a:xfrm>
            <a:off x="812800" y="1301538"/>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17"/>
                </a:solidFill>
                <a:latin typeface="Lato" pitchFamily="34" charset="0"/>
                <a:ea typeface="Lato" pitchFamily="34" charset="-122"/>
                <a:cs typeface="Lato" pitchFamily="34" charset="-120"/>
              </a:rPr>
              <a:t>Write, calculate and present</a:t>
            </a:r>
            <a:endParaRPr lang="en-US" sz="3600" dirty="0"/>
          </a:p>
        </p:txBody>
      </p:sp>
      <p:pic>
        <p:nvPicPr>
          <p:cNvPr id="4" name="Image 0" descr="Libera Words">    </p:cNvPr>
          <p:cNvPicPr>
            <a:picLocks noChangeAspect="1"/>
          </p:cNvPicPr>
          <p:nvPr/>
        </p:nvPicPr>
        <p:blipFill>
          <a:blip r:embed="rId1"/>
          <a:srcRect l="0" r="0" t="0" b="0"/>
          <a:stretch/>
        </p:blipFill>
        <p:spPr>
          <a:xfrm>
            <a:off x="812800" y="2108729"/>
            <a:ext cx="1136650" cy="406400"/>
          </a:xfrm>
          <a:prstGeom prst="rect">
            <a:avLst/>
          </a:prstGeom>
        </p:spPr>
      </p:pic>
      <p:sp>
        <p:nvSpPr>
          <p:cNvPr id="5" name="Text 2"/>
          <p:cNvSpPr/>
          <p:nvPr/>
        </p:nvSpPr>
        <p:spPr>
          <a:xfrm>
            <a:off x="812800" y="2565929"/>
            <a:ext cx="5232400"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Letters, reports, any document</a:t>
            </a:r>
            <a:endParaRPr lang="en-US" sz="1600" dirty="0"/>
          </a:p>
        </p:txBody>
      </p:sp>
      <p:pic>
        <p:nvPicPr>
          <p:cNvPr id="6" name="Image 1" descr="Libera Tables">    </p:cNvPr>
          <p:cNvPicPr>
            <a:picLocks noChangeAspect="1"/>
          </p:cNvPicPr>
          <p:nvPr/>
        </p:nvPicPr>
        <p:blipFill>
          <a:blip r:embed="rId2"/>
          <a:srcRect l="0" r="0" t="0" b="0"/>
          <a:stretch/>
        </p:blipFill>
        <p:spPr>
          <a:xfrm>
            <a:off x="812800" y="3107479"/>
            <a:ext cx="1111250" cy="406400"/>
          </a:xfrm>
          <a:prstGeom prst="rect">
            <a:avLst/>
          </a:prstGeom>
        </p:spPr>
      </p:pic>
      <p:sp>
        <p:nvSpPr>
          <p:cNvPr id="7" name="Text 3"/>
          <p:cNvSpPr/>
          <p:nvPr/>
        </p:nvSpPr>
        <p:spPr>
          <a:xfrm>
            <a:off x="812800" y="3564679"/>
            <a:ext cx="5232400"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Budgets, lists and figures</a:t>
            </a:r>
            <a:endParaRPr lang="en-US" sz="1600" dirty="0"/>
          </a:p>
        </p:txBody>
      </p:sp>
      <p:pic>
        <p:nvPicPr>
          <p:cNvPr id="8" name="Image 2" descr="Libera Slides">    </p:cNvPr>
          <p:cNvPicPr>
            <a:picLocks noChangeAspect="1"/>
          </p:cNvPicPr>
          <p:nvPr/>
        </p:nvPicPr>
        <p:blipFill>
          <a:blip r:embed="rId3"/>
          <a:srcRect l="0" r="0" t="0" b="0"/>
          <a:stretch/>
        </p:blipFill>
        <p:spPr>
          <a:xfrm>
            <a:off x="812800" y="4106227"/>
            <a:ext cx="1066800" cy="406400"/>
          </a:xfrm>
          <a:prstGeom prst="rect">
            <a:avLst/>
          </a:prstGeom>
        </p:spPr>
      </p:pic>
      <p:sp>
        <p:nvSpPr>
          <p:cNvPr id="9" name="Text 4"/>
          <p:cNvSpPr/>
          <p:nvPr/>
        </p:nvSpPr>
        <p:spPr>
          <a:xfrm>
            <a:off x="812800" y="4563427"/>
            <a:ext cx="5232400"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Presentations to show and share</a:t>
            </a:r>
            <a:endParaRPr lang="en-US" sz="1600" dirty="0"/>
          </a:p>
        </p:txBody>
      </p:sp>
      <p:sp>
        <p:nvSpPr>
          <p:cNvPr id="10" name="Text 5"/>
          <p:cNvSpPr/>
          <p:nvPr/>
        </p:nvSpPr>
        <p:spPr>
          <a:xfrm>
            <a:off x="812800" y="5104977"/>
            <a:ext cx="5232400"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And Libera Diagrams, to view Visio drawings.</a:t>
            </a:r>
            <a:endParaRPr lang="en-US" sz="1200" dirty="0"/>
          </a:p>
        </p:txBody>
      </p:sp>
      <p:pic>
        <p:nvPicPr>
          <p:cNvPr id="11" name="Image 3" descr="Libera Words with a document open: the toolbar in Libera Words purple above a laid-out page.">    </p:cNvPr>
          <p:cNvPicPr>
            <a:picLocks noChangeAspect="1"/>
          </p:cNvPicPr>
          <p:nvPr/>
        </p:nvPicPr>
        <p:blipFill>
          <a:blip r:embed="rId4"/>
          <a:srcRect l="0" r="0" t="0" b="0"/>
          <a:stretch/>
        </p:blipFill>
        <p:spPr>
          <a:xfrm>
            <a:off x="6299200" y="2136670"/>
            <a:ext cx="5080000" cy="3175000"/>
          </a:xfrm>
          <a:prstGeom prst="roundRect">
            <a:avLst>
              <a:gd name="adj" fmla="val 3200"/>
            </a:avLst>
          </a:prstGeom>
          <a:effectLst>
            <a:outerShdw sx="100000" sy="100000" kx="0" ky="0" algn="bl" rotWithShape="0" blurRad="406400" dist="152400" dir="5400000">
              <a:srgbClr val="1E1A17">
                <a:alpha val="18000"/>
              </a:srgbClr>
            </a:outerShdw>
          </a:effectLst>
        </p:spPr>
      </p:pic>
      <p:sp>
        <p:nvSpPr>
          <p:cNvPr id="12" name="Text 6"/>
          <p:cNvSpPr/>
          <p:nvPr/>
        </p:nvSpPr>
        <p:spPr>
          <a:xfrm>
            <a:off x="812800" y="5593714"/>
            <a:ext cx="2179743" cy="361738"/>
          </a:xfrm>
          <a:prstGeom prst="roundRect">
            <a:avLst>
              <a:gd name="adj" fmla="val 50000"/>
            </a:avLst>
          </a:prstGeom>
          <a:solidFill>
            <a:srgbClr val="FFFFFF"/>
          </a:solidFill>
          <a:ln/>
        </p:spPr>
        <p:txBody>
          <a:bodyPr wrap="none" lIns="0" tIns="10525" rIns="0" bIns="0" rtlCol="0" anchor="t">
            <a:normAutofit/>
          </a:bodyPr>
          <a:lstStyle/>
          <a:p>
            <a:pPr algn="ctr" indent="0" marL="0">
              <a:lnSpc>
                <a:spcPts val="1680"/>
              </a:lnSpc>
              <a:buNone/>
            </a:pPr>
            <a:r>
              <a:rPr lang="en-US" sz="1200" dirty="0">
                <a:solidFill>
                  <a:srgbClr val="5E554E"/>
                </a:solidFill>
                <a:latin typeface="Lato" pitchFamily="34" charset="0"/>
                <a:ea typeface="Lato" pitchFamily="34" charset="-122"/>
                <a:cs typeface="Lato" pitchFamily="34" charset="-120"/>
              </a:rPr>
              <a:t>Spell check in 5 languages</a:t>
            </a:r>
            <a:endParaRPr lang="en-US" sz="1200" dirty="0"/>
          </a:p>
        </p:txBody>
      </p:sp>
      <p:sp>
        <p:nvSpPr>
          <p:cNvPr id="13" name="Text 7"/>
          <p:cNvSpPr/>
          <p:nvPr/>
        </p:nvSpPr>
        <p:spPr>
          <a:xfrm>
            <a:off x="3094143" y="5593714"/>
            <a:ext cx="1143847" cy="361738"/>
          </a:xfrm>
          <a:prstGeom prst="roundRect">
            <a:avLst>
              <a:gd name="adj" fmla="val 50000"/>
            </a:avLst>
          </a:prstGeom>
          <a:solidFill>
            <a:srgbClr val="FFFFFF"/>
          </a:solidFill>
          <a:ln/>
        </p:spPr>
        <p:txBody>
          <a:bodyPr wrap="none" lIns="0" tIns="10525" rIns="0" bIns="0" rtlCol="0" anchor="t">
            <a:normAutofit/>
          </a:bodyPr>
          <a:lstStyle/>
          <a:p>
            <a:pPr algn="ctr" indent="0" marL="0">
              <a:lnSpc>
                <a:spcPts val="1680"/>
              </a:lnSpc>
              <a:buNone/>
            </a:pPr>
            <a:r>
              <a:rPr lang="en-US" sz="1200" dirty="0">
                <a:solidFill>
                  <a:srgbClr val="5E554E"/>
                </a:solidFill>
                <a:latin typeface="Lato" pitchFamily="34" charset="0"/>
                <a:ea typeface="Lato" pitchFamily="34" charset="-122"/>
                <a:cs typeface="Lato" pitchFamily="34" charset="-120"/>
              </a:rPr>
              <a:t>PDF export</a:t>
            </a:r>
            <a:endParaRPr lang="en-US" sz="1200" dirty="0"/>
          </a:p>
        </p:txBody>
      </p:sp>
      <p:sp>
        <p:nvSpPr>
          <p:cNvPr id="14" name="Text 8"/>
          <p:cNvSpPr/>
          <p:nvPr/>
        </p:nvSpPr>
        <p:spPr>
          <a:xfrm>
            <a:off x="4339590" y="5593714"/>
            <a:ext cx="895350" cy="361738"/>
          </a:xfrm>
          <a:prstGeom prst="roundRect">
            <a:avLst>
              <a:gd name="adj" fmla="val 50000"/>
            </a:avLst>
          </a:prstGeom>
          <a:solidFill>
            <a:srgbClr val="FFFFFF"/>
          </a:solidFill>
          <a:ln/>
        </p:spPr>
        <p:txBody>
          <a:bodyPr wrap="none" lIns="0" tIns="10525" rIns="0" bIns="0" rtlCol="0" anchor="t">
            <a:normAutofit/>
          </a:bodyPr>
          <a:lstStyle/>
          <a:p>
            <a:pPr algn="ctr" indent="0" marL="0">
              <a:lnSpc>
                <a:spcPts val="1680"/>
              </a:lnSpc>
              <a:buNone/>
            </a:pPr>
            <a:r>
              <a:rPr lang="en-US" sz="1200" dirty="0">
                <a:solidFill>
                  <a:srgbClr val="5E554E"/>
                </a:solidFill>
                <a:latin typeface="Lato" pitchFamily="34" charset="0"/>
                <a:ea typeface="Lato" pitchFamily="34" charset="-122"/>
                <a:cs typeface="Lato" pitchFamily="34" charset="-120"/>
              </a:rPr>
              <a:t>Printing</a:t>
            </a:r>
            <a:endParaRPr lang="en-US" sz="1200" dirty="0"/>
          </a:p>
        </p:txBody>
      </p:sp>
      <p:sp>
        <p:nvSpPr>
          <p:cNvPr id="15" name="Text 9"/>
          <p:cNvSpPr/>
          <p:nvPr/>
        </p:nvSpPr>
        <p:spPr>
          <a:xfrm>
            <a:off x="5336540" y="5593714"/>
            <a:ext cx="1667298" cy="361738"/>
          </a:xfrm>
          <a:prstGeom prst="roundRect">
            <a:avLst>
              <a:gd name="adj" fmla="val 50000"/>
            </a:avLst>
          </a:prstGeom>
          <a:solidFill>
            <a:srgbClr val="FFFFFF"/>
          </a:solidFill>
          <a:ln/>
        </p:spPr>
        <p:txBody>
          <a:bodyPr wrap="none" lIns="0" tIns="10525" rIns="0" bIns="0" rtlCol="0" anchor="t">
            <a:normAutofit/>
          </a:bodyPr>
          <a:lstStyle/>
          <a:p>
            <a:pPr algn="ctr" indent="0" marL="0">
              <a:lnSpc>
                <a:spcPts val="1680"/>
              </a:lnSpc>
              <a:buNone/>
            </a:pPr>
            <a:r>
              <a:rPr lang="en-US" sz="1200" dirty="0">
                <a:solidFill>
                  <a:srgbClr val="5E554E"/>
                </a:solidFill>
                <a:latin typeface="Lato" pitchFamily="34" charset="0"/>
                <a:ea typeface="Lato" pitchFamily="34" charset="-122"/>
                <a:cs typeface="Lato" pitchFamily="34" charset="-120"/>
              </a:rPr>
              <a:t>Recent documents</a:t>
            </a:r>
            <a:endParaRPr lang="en-US" sz="1200" dirty="0"/>
          </a:p>
        </p:txBody>
      </p:sp>
      <p:sp>
        <p:nvSpPr>
          <p:cNvPr id="16" name="Text 10"/>
          <p:cNvSpPr/>
          <p:nvPr/>
        </p:nvSpPr>
        <p:spPr>
          <a:xfrm>
            <a:off x="7105438" y="5593714"/>
            <a:ext cx="2372572" cy="361738"/>
          </a:xfrm>
          <a:prstGeom prst="roundRect">
            <a:avLst>
              <a:gd name="adj" fmla="val 50000"/>
            </a:avLst>
          </a:prstGeom>
          <a:solidFill>
            <a:srgbClr val="FFFFFF"/>
          </a:solidFill>
          <a:ln/>
        </p:spPr>
        <p:txBody>
          <a:bodyPr wrap="none" lIns="0" tIns="10525" rIns="0" bIns="0" rtlCol="0" anchor="t">
            <a:normAutofit/>
          </a:bodyPr>
          <a:lstStyle/>
          <a:p>
            <a:pPr algn="ctr" indent="0" marL="0">
              <a:lnSpc>
                <a:spcPts val="1680"/>
              </a:lnSpc>
              <a:buNone/>
            </a:pPr>
            <a:r>
              <a:rPr lang="en-US" sz="1200" dirty="0">
                <a:solidFill>
                  <a:srgbClr val="5E554E"/>
                </a:solidFill>
                <a:latin typeface="Lato" pitchFamily="34" charset="0"/>
                <a:ea typeface="Lato" pitchFamily="34" charset="-122"/>
                <a:cs typeface="Lato" pitchFamily="34" charset="-120"/>
              </a:rPr>
              <a:t>Your work back after a crash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WORKS WITH EVERYONE</a:t>
            </a:r>
            <a:endParaRPr lang="en-US" sz="1200" dirty="0"/>
          </a:p>
        </p:txBody>
      </p:sp>
      <p:sp>
        <p:nvSpPr>
          <p:cNvPr id="3" name="Text 1"/>
          <p:cNvSpPr/>
          <p:nvPr>
            <p:ph type="title"/>
          </p:nvPr>
        </p:nvSpPr>
        <p:spPr>
          <a:xfrm>
            <a:off x="812800" y="1301538"/>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17"/>
                </a:solidFill>
                <a:latin typeface="Lato" pitchFamily="34" charset="0"/>
                <a:ea typeface="Lato" pitchFamily="34" charset="-122"/>
                <a:cs typeface="Lato" pitchFamily="34" charset="-120"/>
              </a:rPr>
              <a:t>It opens what people send you</a:t>
            </a:r>
            <a:endParaRPr lang="en-US" sz="3600" dirty="0"/>
          </a:p>
        </p:txBody>
      </p:sp>
      <p:sp>
        <p:nvSpPr>
          <p:cNvPr id="4" name="Shape 2"/>
          <p:cNvSpPr/>
          <p:nvPr/>
        </p:nvSpPr>
        <p:spPr>
          <a:xfrm>
            <a:off x="812800" y="2108729"/>
            <a:ext cx="3048000" cy="1889866"/>
          </a:xfrm>
          <a:prstGeom prst="roundRect">
            <a:avLst>
              <a:gd name="adj" fmla="val 8064"/>
            </a:avLst>
          </a:prstGeom>
          <a:solidFill>
            <a:srgbClr val="F6F1E9"/>
          </a:solidFill>
          <a:ln/>
        </p:spPr>
      </p:sp>
      <p:sp>
        <p:nvSpPr>
          <p:cNvPr id="5" name="Text 3"/>
          <p:cNvSpPr/>
          <p:nvPr/>
        </p:nvSpPr>
        <p:spPr>
          <a:xfrm>
            <a:off x="1066800" y="2362729"/>
            <a:ext cx="2616200" cy="2601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62B"/>
                </a:solidFill>
                <a:latin typeface="Lato" pitchFamily="34" charset="0"/>
                <a:ea typeface="Lato" pitchFamily="34" charset="-122"/>
                <a:cs typeface="Lato" pitchFamily="34" charset="-120"/>
              </a:rPr>
              <a:t>You receive</a:t>
            </a:r>
            <a:endParaRPr lang="en-US" sz="1200" dirty="0"/>
          </a:p>
        </p:txBody>
      </p:sp>
      <p:sp>
        <p:nvSpPr>
          <p:cNvPr id="6" name="Text 4"/>
          <p:cNvSpPr/>
          <p:nvPr/>
        </p:nvSpPr>
        <p:spPr>
          <a:xfrm>
            <a:off x="1066800" y="2673668"/>
            <a:ext cx="2616200"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a .docx</a:t>
            </a:r>
            <a:endParaRPr lang="en-US" sz="2200" dirty="0"/>
          </a:p>
        </p:txBody>
      </p:sp>
      <p:sp>
        <p:nvSpPr>
          <p:cNvPr id="7" name="Text 5"/>
          <p:cNvSpPr/>
          <p:nvPr/>
        </p:nvSpPr>
        <p:spPr>
          <a:xfrm>
            <a:off x="1066800" y="3118696"/>
            <a:ext cx="261620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from a colleague, a client or a school</a:t>
            </a:r>
            <a:endParaRPr lang="en-US" sz="1600" dirty="0"/>
          </a:p>
        </p:txBody>
      </p:sp>
      <p:pic>
        <p:nvPicPr>
          <p:cNvPr id="8" name="Image 0" descr="connector">    </p:cNvPr>
          <p:cNvPicPr>
            <a:picLocks noChangeAspect="1"/>
          </p:cNvPicPr>
          <p:nvPr/>
        </p:nvPicPr>
        <p:blipFill>
          <a:blip r:embed="rId1"/>
          <a:srcRect l="0" r="0" t="0" b="0"/>
          <a:stretch/>
        </p:blipFill>
        <p:spPr>
          <a:xfrm>
            <a:off x="4013200" y="2990109"/>
            <a:ext cx="406400" cy="127000"/>
          </a:xfrm>
          <a:prstGeom prst="rect">
            <a:avLst/>
          </a:prstGeom>
        </p:spPr>
      </p:pic>
      <p:sp>
        <p:nvSpPr>
          <p:cNvPr id="9" name="Shape 6"/>
          <p:cNvSpPr/>
          <p:nvPr/>
        </p:nvSpPr>
        <p:spPr>
          <a:xfrm>
            <a:off x="4572000" y="2108729"/>
            <a:ext cx="3048000" cy="1889866"/>
          </a:xfrm>
          <a:prstGeom prst="roundRect">
            <a:avLst>
              <a:gd name="adj" fmla="val 8064"/>
            </a:avLst>
          </a:prstGeom>
          <a:solidFill>
            <a:srgbClr val="F6F1E9"/>
          </a:solidFill>
          <a:ln/>
        </p:spPr>
      </p:sp>
      <p:sp>
        <p:nvSpPr>
          <p:cNvPr id="10" name="Text 7"/>
          <p:cNvSpPr/>
          <p:nvPr/>
        </p:nvSpPr>
        <p:spPr>
          <a:xfrm>
            <a:off x="4826000" y="2362729"/>
            <a:ext cx="2616200" cy="2601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62B"/>
                </a:solidFill>
                <a:latin typeface="Lato" pitchFamily="34" charset="0"/>
                <a:ea typeface="Lato" pitchFamily="34" charset="-122"/>
                <a:cs typeface="Lato" pitchFamily="34" charset="-120"/>
              </a:rPr>
              <a:t>You open it</a:t>
            </a:r>
            <a:endParaRPr lang="en-US" sz="1200" dirty="0"/>
          </a:p>
        </p:txBody>
      </p:sp>
      <p:sp>
        <p:nvSpPr>
          <p:cNvPr id="11" name="Text 8"/>
          <p:cNvSpPr/>
          <p:nvPr/>
        </p:nvSpPr>
        <p:spPr>
          <a:xfrm>
            <a:off x="4826000" y="2673668"/>
            <a:ext cx="2616200"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in Libera Words</a:t>
            </a:r>
            <a:endParaRPr lang="en-US" sz="2200" dirty="0"/>
          </a:p>
        </p:txBody>
      </p:sp>
      <p:sp>
        <p:nvSpPr>
          <p:cNvPr id="12" name="Text 9"/>
          <p:cNvSpPr/>
          <p:nvPr/>
        </p:nvSpPr>
        <p:spPr>
          <a:xfrm>
            <a:off x="4826000" y="3118696"/>
            <a:ext cx="261620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laid out the way its author saw it</a:t>
            </a:r>
            <a:endParaRPr lang="en-US" sz="1600" dirty="0"/>
          </a:p>
        </p:txBody>
      </p:sp>
      <p:pic>
        <p:nvPicPr>
          <p:cNvPr id="13" name="Image 1" descr="connector">    </p:cNvPr>
          <p:cNvPicPr>
            <a:picLocks noChangeAspect="1"/>
          </p:cNvPicPr>
          <p:nvPr/>
        </p:nvPicPr>
        <p:blipFill>
          <a:blip r:embed="rId2"/>
          <a:srcRect l="0" r="0" t="0" b="0"/>
          <a:stretch/>
        </p:blipFill>
        <p:spPr>
          <a:xfrm>
            <a:off x="7772400" y="2990109"/>
            <a:ext cx="406400" cy="127000"/>
          </a:xfrm>
          <a:prstGeom prst="rect">
            <a:avLst/>
          </a:prstGeom>
        </p:spPr>
      </p:pic>
      <p:sp>
        <p:nvSpPr>
          <p:cNvPr id="14" name="Shape 10"/>
          <p:cNvSpPr/>
          <p:nvPr/>
        </p:nvSpPr>
        <p:spPr>
          <a:xfrm>
            <a:off x="8331200" y="2108729"/>
            <a:ext cx="3048000" cy="1889866"/>
          </a:xfrm>
          <a:prstGeom prst="roundRect">
            <a:avLst>
              <a:gd name="adj" fmla="val 8064"/>
            </a:avLst>
          </a:prstGeom>
          <a:solidFill>
            <a:srgbClr val="F6F1E9"/>
          </a:solidFill>
          <a:ln/>
        </p:spPr>
      </p:sp>
      <p:sp>
        <p:nvSpPr>
          <p:cNvPr id="15" name="Text 11"/>
          <p:cNvSpPr/>
          <p:nvPr/>
        </p:nvSpPr>
        <p:spPr>
          <a:xfrm>
            <a:off x="8585200" y="2362729"/>
            <a:ext cx="2616200" cy="2601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62B"/>
                </a:solidFill>
                <a:latin typeface="Lato" pitchFamily="34" charset="0"/>
                <a:ea typeface="Lato" pitchFamily="34" charset="-122"/>
                <a:cs typeface="Lato" pitchFamily="34" charset="-120"/>
              </a:rPr>
              <a:t>You send back</a:t>
            </a:r>
            <a:endParaRPr lang="en-US" sz="1200" dirty="0"/>
          </a:p>
        </p:txBody>
      </p:sp>
      <p:sp>
        <p:nvSpPr>
          <p:cNvPr id="16" name="Text 12"/>
          <p:cNvSpPr/>
          <p:nvPr/>
        </p:nvSpPr>
        <p:spPr>
          <a:xfrm>
            <a:off x="8585200" y="2673668"/>
            <a:ext cx="2616200"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a .docx</a:t>
            </a:r>
            <a:endParaRPr lang="en-US" sz="2200" dirty="0"/>
          </a:p>
        </p:txBody>
      </p:sp>
      <p:sp>
        <p:nvSpPr>
          <p:cNvPr id="17" name="Text 13"/>
          <p:cNvSpPr/>
          <p:nvPr/>
        </p:nvSpPr>
        <p:spPr>
          <a:xfrm>
            <a:off x="8585200" y="3118696"/>
            <a:ext cx="261620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which they open in Word as usual</a:t>
            </a:r>
            <a:endParaRPr lang="en-US" sz="1600" dirty="0"/>
          </a:p>
        </p:txBody>
      </p:sp>
      <p:sp>
        <p:nvSpPr>
          <p:cNvPr id="18" name="Text 14"/>
          <p:cNvSpPr/>
          <p:nvPr/>
        </p:nvSpPr>
        <p:spPr>
          <a:xfrm>
            <a:off x="812800" y="4252595"/>
            <a:ext cx="981075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Fonts, images, tables and tracked changes come through. Spreadsheets and presentations work the same way.</a:t>
            </a:r>
            <a:endParaRPr lang="en-US" sz="1600" dirty="0"/>
          </a:p>
        </p:txBody>
      </p:sp>
      <p:sp>
        <p:nvSpPr>
          <p:cNvPr id="19" name="Text 15"/>
          <p:cNvSpPr/>
          <p:nvPr/>
        </p:nvSpPr>
        <p:spPr>
          <a:xfrm>
            <a:off x="812800" y="5183293"/>
            <a:ext cx="1309052" cy="2601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17"/>
                </a:solidFill>
                <a:latin typeface="Lato" pitchFamily="34" charset="0"/>
                <a:ea typeface="Lato" pitchFamily="34" charset="-122"/>
                <a:cs typeface="Lato" pitchFamily="34" charset="-120"/>
              </a:rPr>
              <a:t>Microsoft Office</a:t>
            </a:r>
            <a:endParaRPr lang="en-US" sz="1200" dirty="0"/>
          </a:p>
        </p:txBody>
      </p:sp>
      <p:sp>
        <p:nvSpPr>
          <p:cNvPr id="20" name="Text 16"/>
          <p:cNvSpPr/>
          <p:nvPr/>
        </p:nvSpPr>
        <p:spPr>
          <a:xfrm>
            <a:off x="2121852" y="5132493"/>
            <a:ext cx="639233" cy="336338"/>
          </a:xfrm>
          <a:prstGeom prst="roundRect">
            <a:avLst>
              <a:gd name="adj" fmla="val 22656"/>
            </a:avLst>
          </a:prstGeom>
          <a:solidFill>
            <a:srgbClr val="F6F1E9"/>
          </a:solidFill>
          <a:ln/>
        </p:spPr>
        <p:txBody>
          <a:bodyPr wrap="none" lIns="0" tIns="28482" rIns="0" bIns="3082" rtlCol="0" anchor="t">
            <a:normAutofit/>
          </a:bodyPr>
          <a:lstStyle/>
          <a:p>
            <a:pPr algn="ctr" indent="0" marL="0">
              <a:lnSpc>
                <a:spcPts val="1680"/>
              </a:lnSpc>
              <a:buNone/>
            </a:pPr>
            <a:r>
              <a:rPr lang="en-US" sz="1200" dirty="0">
                <a:solidFill>
                  <a:srgbClr val="1E1A17"/>
                </a:solidFill>
                <a:latin typeface="Lato" pitchFamily="34" charset="0"/>
                <a:ea typeface="Lato" pitchFamily="34" charset="-122"/>
                <a:cs typeface="Lato" pitchFamily="34" charset="-120"/>
              </a:rPr>
              <a:t>.docx</a:t>
            </a:r>
            <a:endParaRPr lang="en-US" sz="1200" dirty="0"/>
          </a:p>
        </p:txBody>
      </p:sp>
      <p:sp>
        <p:nvSpPr>
          <p:cNvPr id="21" name="Text 17"/>
          <p:cNvSpPr/>
          <p:nvPr/>
        </p:nvSpPr>
        <p:spPr>
          <a:xfrm>
            <a:off x="2837286" y="5132493"/>
            <a:ext cx="574146" cy="336338"/>
          </a:xfrm>
          <a:prstGeom prst="roundRect">
            <a:avLst>
              <a:gd name="adj" fmla="val 22656"/>
            </a:avLst>
          </a:prstGeom>
          <a:solidFill>
            <a:srgbClr val="F6F1E9"/>
          </a:solidFill>
          <a:ln/>
        </p:spPr>
        <p:txBody>
          <a:bodyPr wrap="none" lIns="0" tIns="28482" rIns="0" bIns="3082" rtlCol="0" anchor="t">
            <a:normAutofit/>
          </a:bodyPr>
          <a:lstStyle/>
          <a:p>
            <a:pPr algn="ctr" indent="0" marL="0">
              <a:lnSpc>
                <a:spcPts val="1680"/>
              </a:lnSpc>
              <a:buNone/>
            </a:pPr>
            <a:r>
              <a:rPr lang="en-US" sz="1200" dirty="0">
                <a:solidFill>
                  <a:srgbClr val="1E1A17"/>
                </a:solidFill>
                <a:latin typeface="Lato" pitchFamily="34" charset="0"/>
                <a:ea typeface="Lato" pitchFamily="34" charset="-122"/>
                <a:cs typeface="Lato" pitchFamily="34" charset="-120"/>
              </a:rPr>
              <a:t>.xlsx</a:t>
            </a:r>
            <a:endParaRPr lang="en-US" sz="1200" dirty="0"/>
          </a:p>
        </p:txBody>
      </p:sp>
      <p:sp>
        <p:nvSpPr>
          <p:cNvPr id="22" name="Text 18"/>
          <p:cNvSpPr/>
          <p:nvPr/>
        </p:nvSpPr>
        <p:spPr>
          <a:xfrm>
            <a:off x="3487632" y="5132493"/>
            <a:ext cx="621559" cy="336338"/>
          </a:xfrm>
          <a:prstGeom prst="roundRect">
            <a:avLst>
              <a:gd name="adj" fmla="val 22656"/>
            </a:avLst>
          </a:prstGeom>
          <a:solidFill>
            <a:srgbClr val="F6F1E9"/>
          </a:solidFill>
          <a:ln/>
        </p:spPr>
        <p:txBody>
          <a:bodyPr wrap="none" lIns="0" tIns="28482" rIns="0" bIns="3082" rtlCol="0" anchor="t">
            <a:normAutofit/>
          </a:bodyPr>
          <a:lstStyle/>
          <a:p>
            <a:pPr algn="ctr" indent="0" marL="0">
              <a:lnSpc>
                <a:spcPts val="1680"/>
              </a:lnSpc>
              <a:buNone/>
            </a:pPr>
            <a:r>
              <a:rPr lang="en-US" sz="1200" dirty="0">
                <a:solidFill>
                  <a:srgbClr val="1E1A17"/>
                </a:solidFill>
                <a:latin typeface="Lato" pitchFamily="34" charset="0"/>
                <a:ea typeface="Lato" pitchFamily="34" charset="-122"/>
                <a:cs typeface="Lato" pitchFamily="34" charset="-120"/>
              </a:rPr>
              <a:t>.pptx</a:t>
            </a:r>
            <a:endParaRPr lang="en-US" sz="1200" dirty="0"/>
          </a:p>
        </p:txBody>
      </p:sp>
      <p:sp>
        <p:nvSpPr>
          <p:cNvPr id="23" name="Text 19"/>
          <p:cNvSpPr/>
          <p:nvPr/>
        </p:nvSpPr>
        <p:spPr>
          <a:xfrm>
            <a:off x="4464791" y="5183293"/>
            <a:ext cx="925089" cy="2601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A17"/>
                </a:solidFill>
                <a:latin typeface="Lato" pitchFamily="34" charset="0"/>
                <a:ea typeface="Lato" pitchFamily="34" charset="-122"/>
                <a:cs typeface="Lato" pitchFamily="34" charset="-120"/>
              </a:rPr>
              <a:t>LibreOffice</a:t>
            </a:r>
            <a:endParaRPr lang="en-US" sz="1200" dirty="0"/>
          </a:p>
        </p:txBody>
      </p:sp>
      <p:sp>
        <p:nvSpPr>
          <p:cNvPr id="24" name="Text 20"/>
          <p:cNvSpPr/>
          <p:nvPr/>
        </p:nvSpPr>
        <p:spPr>
          <a:xfrm>
            <a:off x="5389880" y="5132493"/>
            <a:ext cx="539009" cy="336338"/>
          </a:xfrm>
          <a:prstGeom prst="roundRect">
            <a:avLst>
              <a:gd name="adj" fmla="val 22656"/>
            </a:avLst>
          </a:prstGeom>
          <a:solidFill>
            <a:srgbClr val="F6F1E9"/>
          </a:solidFill>
          <a:ln/>
        </p:spPr>
        <p:txBody>
          <a:bodyPr wrap="none" lIns="0" tIns="28482" rIns="0" bIns="3082" rtlCol="0" anchor="t">
            <a:normAutofit/>
          </a:bodyPr>
          <a:lstStyle/>
          <a:p>
            <a:pPr algn="ctr" indent="0" marL="0">
              <a:lnSpc>
                <a:spcPts val="1680"/>
              </a:lnSpc>
              <a:buNone/>
            </a:pPr>
            <a:r>
              <a:rPr lang="en-US" sz="1200" dirty="0">
                <a:solidFill>
                  <a:srgbClr val="1E1A17"/>
                </a:solidFill>
                <a:latin typeface="Lato" pitchFamily="34" charset="0"/>
                <a:ea typeface="Lato" pitchFamily="34" charset="-122"/>
                <a:cs typeface="Lato" pitchFamily="34" charset="-120"/>
              </a:rPr>
              <a:t>.odt</a:t>
            </a:r>
            <a:endParaRPr lang="en-US" sz="1200" dirty="0"/>
          </a:p>
        </p:txBody>
      </p:sp>
      <p:sp>
        <p:nvSpPr>
          <p:cNvPr id="25" name="Text 21"/>
          <p:cNvSpPr/>
          <p:nvPr/>
        </p:nvSpPr>
        <p:spPr>
          <a:xfrm>
            <a:off x="6005089" y="5132493"/>
            <a:ext cx="549169" cy="336338"/>
          </a:xfrm>
          <a:prstGeom prst="roundRect">
            <a:avLst>
              <a:gd name="adj" fmla="val 22656"/>
            </a:avLst>
          </a:prstGeom>
          <a:solidFill>
            <a:srgbClr val="F6F1E9"/>
          </a:solidFill>
          <a:ln/>
        </p:spPr>
        <p:txBody>
          <a:bodyPr wrap="none" lIns="0" tIns="28482" rIns="0" bIns="3082" rtlCol="0" anchor="t">
            <a:normAutofit/>
          </a:bodyPr>
          <a:lstStyle/>
          <a:p>
            <a:pPr algn="ctr" indent="0" marL="0">
              <a:lnSpc>
                <a:spcPts val="1680"/>
              </a:lnSpc>
              <a:buNone/>
            </a:pPr>
            <a:r>
              <a:rPr lang="en-US" sz="1200" dirty="0">
                <a:solidFill>
                  <a:srgbClr val="1E1A17"/>
                </a:solidFill>
                <a:latin typeface="Lato" pitchFamily="34" charset="0"/>
                <a:ea typeface="Lato" pitchFamily="34" charset="-122"/>
                <a:cs typeface="Lato" pitchFamily="34" charset="-120"/>
              </a:rPr>
              <a:t>.ods</a:t>
            </a:r>
            <a:endParaRPr lang="en-US" sz="1200" dirty="0"/>
          </a:p>
        </p:txBody>
      </p:sp>
      <p:sp>
        <p:nvSpPr>
          <p:cNvPr id="26" name="Text 22"/>
          <p:cNvSpPr/>
          <p:nvPr/>
        </p:nvSpPr>
        <p:spPr>
          <a:xfrm>
            <a:off x="6630458" y="5132493"/>
            <a:ext cx="568960" cy="336338"/>
          </a:xfrm>
          <a:prstGeom prst="roundRect">
            <a:avLst>
              <a:gd name="adj" fmla="val 22656"/>
            </a:avLst>
          </a:prstGeom>
          <a:solidFill>
            <a:srgbClr val="F6F1E9"/>
          </a:solidFill>
          <a:ln/>
        </p:spPr>
        <p:txBody>
          <a:bodyPr wrap="none" lIns="0" tIns="28482" rIns="0" bIns="3082" rtlCol="0" anchor="t">
            <a:normAutofit/>
          </a:bodyPr>
          <a:lstStyle/>
          <a:p>
            <a:pPr algn="ctr" indent="0" marL="0">
              <a:lnSpc>
                <a:spcPts val="1680"/>
              </a:lnSpc>
              <a:buNone/>
            </a:pPr>
            <a:r>
              <a:rPr lang="en-US" sz="1200" dirty="0">
                <a:solidFill>
                  <a:srgbClr val="1E1A17"/>
                </a:solidFill>
                <a:latin typeface="Lato" pitchFamily="34" charset="0"/>
                <a:ea typeface="Lato" pitchFamily="34" charset="-122"/>
                <a:cs typeface="Lato" pitchFamily="34" charset="-120"/>
              </a:rPr>
              <a:t>.odp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9"/>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YOURS</a:t>
            </a:r>
            <a:endParaRPr lang="en-US" sz="1200" dirty="0"/>
          </a:p>
        </p:txBody>
      </p:sp>
      <p:sp>
        <p:nvSpPr>
          <p:cNvPr id="3" name="Text 1"/>
          <p:cNvSpPr/>
          <p:nvPr>
            <p:ph type="title"/>
          </p:nvPr>
        </p:nvSpPr>
        <p:spPr>
          <a:xfrm>
            <a:off x="812800" y="1301539"/>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17"/>
                </a:solidFill>
                <a:latin typeface="Lato" pitchFamily="34" charset="0"/>
                <a:ea typeface="Lato" pitchFamily="34" charset="-122"/>
                <a:cs typeface="Lato" pitchFamily="34" charset="-120"/>
              </a:rPr>
              <a:t>Free, private and yours to keep</a:t>
            </a:r>
            <a:endParaRPr lang="en-US" sz="3600" dirty="0"/>
          </a:p>
        </p:txBody>
      </p:sp>
      <p:sp>
        <p:nvSpPr>
          <p:cNvPr id="4" name="Shape 2"/>
          <p:cNvSpPr/>
          <p:nvPr/>
        </p:nvSpPr>
        <p:spPr>
          <a:xfrm>
            <a:off x="812800" y="2108730"/>
            <a:ext cx="5181600" cy="1578928"/>
          </a:xfrm>
          <a:prstGeom prst="roundRect">
            <a:avLst>
              <a:gd name="adj" fmla="val 9652"/>
            </a:avLst>
          </a:prstGeom>
          <a:solidFill>
            <a:srgbClr val="FFFFFF"/>
          </a:solidFill>
          <a:ln/>
        </p:spPr>
      </p:sp>
      <p:pic>
        <p:nvPicPr>
          <p:cNvPr id="5" name="Image 0" descr="Star">    </p:cNvPr>
          <p:cNvPicPr>
            <a:picLocks noChangeAspect="1"/>
          </p:cNvPicPr>
          <p:nvPr/>
        </p:nvPicPr>
        <p:blipFill>
          <a:blip r:embed="rId1"/>
          <a:srcRect l="0" r="0" t="0" b="0"/>
          <a:stretch/>
        </p:blipFill>
        <p:spPr>
          <a:xfrm>
            <a:off x="1066800" y="2394691"/>
            <a:ext cx="304800" cy="304800"/>
          </a:xfrm>
          <a:prstGeom prst="rect">
            <a:avLst/>
          </a:prstGeom>
        </p:spPr>
      </p:pic>
      <p:sp>
        <p:nvSpPr>
          <p:cNvPr id="6" name="Text 3"/>
          <p:cNvSpPr/>
          <p:nvPr/>
        </p:nvSpPr>
        <p:spPr>
          <a:xfrm>
            <a:off x="1498600" y="2362730"/>
            <a:ext cx="740791"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Free</a:t>
            </a:r>
            <a:endParaRPr lang="en-US" sz="2200" dirty="0"/>
          </a:p>
        </p:txBody>
      </p:sp>
      <p:sp>
        <p:nvSpPr>
          <p:cNvPr id="7" name="Text 4"/>
          <p:cNvSpPr/>
          <p:nvPr/>
        </p:nvSpPr>
        <p:spPr>
          <a:xfrm>
            <a:off x="1066800" y="2807757"/>
            <a:ext cx="4813808"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No licence fee, no monthly bill. Install it on all your computers.</a:t>
            </a:r>
            <a:endParaRPr lang="en-US" sz="1600" dirty="0"/>
          </a:p>
        </p:txBody>
      </p:sp>
      <p:sp>
        <p:nvSpPr>
          <p:cNvPr id="8" name="Shape 5"/>
          <p:cNvSpPr/>
          <p:nvPr/>
        </p:nvSpPr>
        <p:spPr>
          <a:xfrm>
            <a:off x="6197600" y="2108730"/>
            <a:ext cx="5181600" cy="1578928"/>
          </a:xfrm>
          <a:prstGeom prst="roundRect">
            <a:avLst>
              <a:gd name="adj" fmla="val 9652"/>
            </a:avLst>
          </a:prstGeom>
          <a:solidFill>
            <a:srgbClr val="FFFFFF"/>
          </a:solidFill>
          <a:ln/>
        </p:spPr>
      </p:sp>
      <p:pic>
        <p:nvPicPr>
          <p:cNvPr id="9" name="Image 1" descr="Home">    </p:cNvPr>
          <p:cNvPicPr>
            <a:picLocks noChangeAspect="1"/>
          </p:cNvPicPr>
          <p:nvPr/>
        </p:nvPicPr>
        <p:blipFill>
          <a:blip r:embed="rId2"/>
          <a:srcRect l="0" r="0" t="0" b="0"/>
          <a:stretch/>
        </p:blipFill>
        <p:spPr>
          <a:xfrm>
            <a:off x="6451600" y="2394691"/>
            <a:ext cx="304800" cy="304800"/>
          </a:xfrm>
          <a:prstGeom prst="rect">
            <a:avLst/>
          </a:prstGeom>
        </p:spPr>
      </p:pic>
      <p:sp>
        <p:nvSpPr>
          <p:cNvPr id="10" name="Text 6"/>
          <p:cNvSpPr/>
          <p:nvPr/>
        </p:nvSpPr>
        <p:spPr>
          <a:xfrm>
            <a:off x="6883400" y="2362730"/>
            <a:ext cx="1876171"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No account</a:t>
            </a:r>
            <a:endParaRPr lang="en-US" sz="2200" dirty="0"/>
          </a:p>
        </p:txBody>
      </p:sp>
      <p:sp>
        <p:nvSpPr>
          <p:cNvPr id="11" name="Text 7"/>
          <p:cNvSpPr/>
          <p:nvPr/>
        </p:nvSpPr>
        <p:spPr>
          <a:xfrm>
            <a:off x="6451600" y="2807757"/>
            <a:ext cx="4927600"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Nothing to sign up for. Open it and start typing.</a:t>
            </a:r>
            <a:endParaRPr lang="en-US" sz="1600" dirty="0"/>
          </a:p>
        </p:txBody>
      </p:sp>
      <p:sp>
        <p:nvSpPr>
          <p:cNvPr id="12" name="Shape 8"/>
          <p:cNvSpPr/>
          <p:nvPr/>
        </p:nvSpPr>
        <p:spPr>
          <a:xfrm>
            <a:off x="812800" y="3890857"/>
            <a:ext cx="5181600" cy="1578927"/>
          </a:xfrm>
          <a:prstGeom prst="roundRect">
            <a:avLst>
              <a:gd name="adj" fmla="val 9652"/>
            </a:avLst>
          </a:prstGeom>
          <a:solidFill>
            <a:srgbClr val="FFFFFF"/>
          </a:solidFill>
          <a:ln/>
        </p:spPr>
      </p:sp>
      <p:pic>
        <p:nvPicPr>
          <p:cNvPr id="13" name="Image 2" descr="Lock">    </p:cNvPr>
          <p:cNvPicPr>
            <a:picLocks noChangeAspect="1"/>
          </p:cNvPicPr>
          <p:nvPr/>
        </p:nvPicPr>
        <p:blipFill>
          <a:blip r:embed="rId3"/>
          <a:srcRect l="0" r="0" t="0" b="0"/>
          <a:stretch/>
        </p:blipFill>
        <p:spPr>
          <a:xfrm>
            <a:off x="1066800" y="4176818"/>
            <a:ext cx="304800" cy="304800"/>
          </a:xfrm>
          <a:prstGeom prst="rect">
            <a:avLst/>
          </a:prstGeom>
        </p:spPr>
      </p:pic>
      <p:sp>
        <p:nvSpPr>
          <p:cNvPr id="14" name="Text 9"/>
          <p:cNvSpPr/>
          <p:nvPr/>
        </p:nvSpPr>
        <p:spPr>
          <a:xfrm>
            <a:off x="1498600" y="4144857"/>
            <a:ext cx="1210691"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Private</a:t>
            </a:r>
            <a:endParaRPr lang="en-US" sz="2200" dirty="0"/>
          </a:p>
        </p:txBody>
      </p:sp>
      <p:sp>
        <p:nvSpPr>
          <p:cNvPr id="15" name="Text 10"/>
          <p:cNvSpPr/>
          <p:nvPr/>
        </p:nvSpPr>
        <p:spPr>
          <a:xfrm>
            <a:off x="1066800" y="4589887"/>
            <a:ext cx="4813808"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No tracking. Your documents stay on your computer, never uploaded.</a:t>
            </a:r>
            <a:endParaRPr lang="en-US" sz="1600" dirty="0"/>
          </a:p>
        </p:txBody>
      </p:sp>
      <p:sp>
        <p:nvSpPr>
          <p:cNvPr id="16" name="Shape 11"/>
          <p:cNvSpPr/>
          <p:nvPr/>
        </p:nvSpPr>
        <p:spPr>
          <a:xfrm>
            <a:off x="6197600" y="3890857"/>
            <a:ext cx="5181600" cy="1578927"/>
          </a:xfrm>
          <a:prstGeom prst="roundRect">
            <a:avLst>
              <a:gd name="adj" fmla="val 9652"/>
            </a:avLst>
          </a:prstGeom>
          <a:solidFill>
            <a:srgbClr val="FFFFFF"/>
          </a:solidFill>
          <a:ln/>
        </p:spPr>
      </p:sp>
      <p:pic>
        <p:nvPicPr>
          <p:cNvPr id="17" name="Image 3" descr="Key">    </p:cNvPr>
          <p:cNvPicPr>
            <a:picLocks noChangeAspect="1"/>
          </p:cNvPicPr>
          <p:nvPr/>
        </p:nvPicPr>
        <p:blipFill>
          <a:blip r:embed="rId4"/>
          <a:srcRect l="0" r="0" t="0" b="0"/>
          <a:stretch/>
        </p:blipFill>
        <p:spPr>
          <a:xfrm>
            <a:off x="6451600" y="4176818"/>
            <a:ext cx="304800" cy="304800"/>
          </a:xfrm>
          <a:prstGeom prst="rect">
            <a:avLst/>
          </a:prstGeom>
        </p:spPr>
      </p:pic>
      <p:sp>
        <p:nvSpPr>
          <p:cNvPr id="18" name="Text 12"/>
          <p:cNvSpPr/>
          <p:nvPr/>
        </p:nvSpPr>
        <p:spPr>
          <a:xfrm>
            <a:off x="6883400" y="4144857"/>
            <a:ext cx="2232660"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1A17"/>
                </a:solidFill>
                <a:latin typeface="Lato" pitchFamily="34" charset="0"/>
                <a:ea typeface="Lato" pitchFamily="34" charset="-122"/>
                <a:cs typeface="Lato" pitchFamily="34" charset="-120"/>
              </a:rPr>
              <a:t>Yours to keep</a:t>
            </a:r>
            <a:endParaRPr lang="en-US" sz="2200" dirty="0"/>
          </a:p>
        </p:txBody>
      </p:sp>
      <p:sp>
        <p:nvSpPr>
          <p:cNvPr id="19" name="Text 13"/>
          <p:cNvSpPr/>
          <p:nvPr/>
        </p:nvSpPr>
        <p:spPr>
          <a:xfrm>
            <a:off x="6451600" y="4589887"/>
            <a:ext cx="4813808"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Free and open source software, made by Abilian in France.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A17"/>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8A6E"/>
                </a:solidFill>
                <a:latin typeface="Lato" pitchFamily="34" charset="0"/>
                <a:ea typeface="Lato" pitchFamily="34" charset="-122"/>
                <a:cs typeface="Lato" pitchFamily="34" charset="-120"/>
              </a:rPr>
              <a:t>AVAILABLE NOW</a:t>
            </a:r>
            <a:endParaRPr lang="en-US" sz="1200" dirty="0"/>
          </a:p>
        </p:txBody>
      </p:sp>
      <p:sp>
        <p:nvSpPr>
          <p:cNvPr id="3" name="Text 1"/>
          <p:cNvSpPr/>
          <p:nvPr>
            <p:ph type="title"/>
          </p:nvPr>
        </p:nvSpPr>
        <p:spPr>
          <a:xfrm>
            <a:off x="812800" y="1301539"/>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1E9"/>
                </a:solidFill>
                <a:latin typeface="Lato" pitchFamily="34" charset="0"/>
                <a:ea typeface="Lato" pitchFamily="34" charset="-122"/>
                <a:cs typeface="Lato" pitchFamily="34" charset="-120"/>
              </a:rPr>
              <a:t>Try the beta today</a:t>
            </a:r>
            <a:endParaRPr lang="en-US" sz="3600" dirty="0"/>
          </a:p>
        </p:txBody>
      </p:sp>
      <p:sp>
        <p:nvSpPr>
          <p:cNvPr id="4" name="Text 2"/>
          <p:cNvSpPr/>
          <p:nvPr/>
        </p:nvSpPr>
        <p:spPr>
          <a:xfrm>
            <a:off x="812800" y="2108730"/>
            <a:ext cx="10883392" cy="39422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6F1E9"/>
                </a:solidFill>
                <a:latin typeface="Lato" pitchFamily="34" charset="0"/>
                <a:ea typeface="Lato" pitchFamily="34" charset="-122"/>
                <a:cs typeface="Lato" pitchFamily="34" charset="-120"/>
              </a:rPr>
              <a:t>Windows 10 and 11 · macOS on Apple Silicon · Linux</a:t>
            </a:r>
            <a:endParaRPr lang="en-US" sz="2200" dirty="0"/>
          </a:p>
        </p:txBody>
      </p:sp>
      <p:sp>
        <p:nvSpPr>
          <p:cNvPr id="5" name="Text 3"/>
          <p:cNvSpPr/>
          <p:nvPr/>
        </p:nvSpPr>
        <p:spPr>
          <a:xfrm>
            <a:off x="812800" y="2731557"/>
            <a:ext cx="2677795" cy="684318"/>
          </a:xfrm>
          <a:prstGeom prst="roundRect">
            <a:avLst>
              <a:gd name="adj" fmla="val 50000"/>
            </a:avLst>
          </a:prstGeom>
          <a:solidFill>
            <a:srgbClr val="B5462B"/>
          </a:solidFill>
          <a:ln/>
        </p:spPr>
        <p:txBody>
          <a:bodyPr wrap="none" lIns="0" tIns="26785" rIns="0" bIns="1385" rtlCol="0" anchor="t">
            <a:normAutofit/>
          </a:bodyPr>
          <a:lstStyle/>
          <a:p>
            <a:pPr algn="ctr" indent="0" marL="0">
              <a:lnSpc>
                <a:spcPts val="3080"/>
              </a:lnSpc>
              <a:buNone/>
            </a:pPr>
            <a:r>
              <a:rPr lang="en-US" sz="2200" b="1" u="sng" dirty="0">
                <a:solidFill>
                  <a:srgbClr val="F6F1E9"/>
                </a:solidFill>
                <a:latin typeface="Lato" pitchFamily="34" charset="0"/>
                <a:ea typeface="Lato" pitchFamily="34" charset="-122"/>
                <a:cs typeface="La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Download now</a:t>
            </a:r>
            <a:endParaRPr lang="en-US" sz="2200" dirty="0"/>
          </a:p>
        </p:txBody>
      </p:sp>
      <p:sp>
        <p:nvSpPr>
          <p:cNvPr id="6" name="Text 4"/>
          <p:cNvSpPr/>
          <p:nvPr/>
        </p:nvSpPr>
        <p:spPr>
          <a:xfrm>
            <a:off x="3795395" y="2917189"/>
            <a:ext cx="3459226"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More info: </a:t>
            </a:r>
            <a:r>
              <a:rPr lang="en-US" sz="1600" u="sng" dirty="0">
                <a:solidFill>
                  <a:srgbClr val="CFC6BA"/>
                </a:solidFill>
                <a:latin typeface="Lato" pitchFamily="34" charset="0"/>
                <a:ea typeface="Lato" pitchFamily="34" charset="-122"/>
                <a:cs typeface="La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docs.liberasuite.eu</a:t>
            </a:r>
            <a:endParaRPr lang="en-US" sz="1600" dirty="0"/>
          </a:p>
        </p:txBody>
      </p:sp>
      <p:sp>
        <p:nvSpPr>
          <p:cNvPr id="7" name="Text 5"/>
          <p:cNvSpPr/>
          <p:nvPr/>
        </p:nvSpPr>
        <p:spPr>
          <a:xfrm>
            <a:off x="812800" y="3669875"/>
            <a:ext cx="850265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It is a beta, and its known gaps are listed openly. The most useful thing you can send us is a document that comes out wrong.</a:t>
            </a:r>
            <a:endParaRPr lang="en-US" sz="1600" dirty="0"/>
          </a:p>
        </p:txBody>
      </p:sp>
      <p:sp>
        <p:nvSpPr>
          <p:cNvPr id="8" name="Text 6"/>
          <p:cNvSpPr/>
          <p:nvPr/>
        </p:nvSpPr>
        <p:spPr>
          <a:xfrm>
            <a:off x="812800" y="5747386"/>
            <a:ext cx="10883392"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E94"/>
                </a:solidFill>
                <a:latin typeface="Lato" pitchFamily="34" charset="0"/>
                <a:ea typeface="Lato" pitchFamily="34" charset="-122"/>
                <a:cs typeface="Lato" pitchFamily="34" charset="-120"/>
              </a:rPr>
              <a:t>Libera Suite's document engine and editors come from Euro-Office, a fork of ONLYOFFICE developed by Ascensio System SIA. Microsoft, Word, Excel, PowerPoint, Visio and Windows are trademarks of the Microsoft group of companies. LibreOffice is a trademark of The Document Foundation. ONLYOFFICE is a trademark of Ascensio System SIA.</a:t>
            </a:r>
            <a:endParaRPr lang="en-US" sz="1200" dirty="0"/>
          </a:p>
        </p:txBody>
      </p:sp>
    </p:spTree>
  </p:cSld>
  <p:clrMapOvr>
    <a:masterClrMapping/>
  </p:clrMapOvr>
</p:sld>
</file>

<file path=ppt/theme/theme1.xml><?xml version="1.0" encoding="utf-8"?>
<a:theme xmlns:a="http://schemas.openxmlformats.org/drawingml/2006/main" name="Libera Suite">
  <a:themeElements>
    <a:clrScheme name="Libera Suite">
      <a:dk1>
        <a:srgbClr val="5E554E"/>
      </a:dk1>
      <a:lt1>
        <a:srgbClr val="F6F1E9"/>
      </a:lt1>
      <a:dk2>
        <a:srgbClr val="847C75"/>
      </a:dk2>
      <a:lt2>
        <a:srgbClr val="E7E1DA"/>
      </a:lt2>
      <a:accent1>
        <a:srgbClr val="B5462B"/>
      </a:accent1>
      <a:accent2>
        <a:srgbClr val="E08A6E"/>
      </a:accent2>
      <a:accent3>
        <a:srgbClr val="1E1A17"/>
      </a:accent3>
      <a:accent4>
        <a:srgbClr val="CFC6BA"/>
      </a:accent4>
      <a:accent5>
        <a:srgbClr val="2E2925"/>
      </a:accent5>
      <a:accent6>
        <a:srgbClr val="A89E94"/>
      </a:accent6>
      <a:hlink>
        <a:srgbClr val="0563C1"/>
      </a:hlink>
      <a:folHlink>
        <a:srgbClr val="954F72"/>
      </a:folHlink>
    </a:clrScheme>
    <a:fontScheme name="Libera Suit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Libera Suite</dc:title>
  <dc:subject/>
  <dc:creator/>
  <cp:lastModifiedBy/>
  <cp:revision>1</cp:revision>
  <dcterms:created xsi:type="dcterms:W3CDTF">2026-10-01T08:33:57Z</dcterms:created>
  <dcterms:modified xsi:type="dcterms:W3CDTF">2026-10-01T08:33:57Z</dcterms:modified>
</cp:coreProperties>
</file>